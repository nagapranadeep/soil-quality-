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slide 1 preserved as provided. Present this slide first, then use the following explanation slide as your speaking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by saying that the project is Soil Quality Classification using Decision Tree and Random Forest. It is supervised because each training sample already has a known fertility label. It is multiclass because the output can be Low, Medium or High. Emphasize that the project is end-to-end: it begins with a CSV dataset, performs EDA, trains models, and exposes predictions through a Flask web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slide 2 preserved as provided. Present this slide first, then use the following explanation slide as your speaking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lab tests produce numerical values, but users want an interpretable fertility class. The challenges are nutrient variability, class imbalance, and explainability. Class imbalance is important because Low and Medium classes have hundreds of examples, while High has only 39. A model can appear accurate by mostly predicting the majority classes, so we need macro metrics and per-class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slide 3 preserved as provided. Present this slide first, then use the following explanation slide as your speaking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preprocessing is not only fixing problems; checking and confirming data quality is also preprocessing. There were no missing values, so imputation was not needed. Stratified 80/20 split preserves the same class ratio in train and test sets. Scaling is not required for Decision Trees and Random Forests because they compare thresholds such as N less than a value instead of computing distances.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slide 4 preserved as provided. Present this slide first, then use the following explanation slide as your speaking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pipeline from left to right: raw CSV, EDA, training, backend, frontend, prediction. Tie it to the ML lifecycle from the subject: raw data, cleaned data, trained model, served endpoint, and user-facing output. Explain that app.py loads the dataset, trains models, creates analysis outputs, and serves the Flask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slide 5 preserved as provided. Present this slide first, then use the following explanation slide as your speaking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using a simple example: if nitrogen is below a threshold, go left; otherwise go right. The tree repeatedly chooses splits that create purer groups. A pure group mostly contains one class. max_depth=6 prevents the tree from memorizing the training data. class_weight balanced is used because the High class is small, so mistakes on that class should matter more during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slide 6 preserved as provided. Present this slide first, then use the following explanation slide as your speaking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that a single tree can be sensitive to small changes in training data. Random Forest solves this by training many trees with randomness. Bagging changes the rows each tree sees, and feature subsampling changes the columns considered at splits. The final output is decided by majority vote. In the feature importance chart, N and P have high importance, meaning they strongly influenced the learned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slide 7 preserved as provided. Present this slide first, then use the following explanation slide as your speaking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flow: User to frontend, frontend to Flask route, Flask to models, model result back to the page. Mention the pages shown in the slide: home, soil guide, EDA, models, and predict. The same 12 features are supplied to both classifiers so the user can compare their predicted fertility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slide 8 preserved as provided. Present this slide first, then use the following explanation slide as your speaking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accuracy tells how many predictions were correct overall, but can hide poor minority-class performance. Precision answers: when the model predicts a class, how often is it correct? Recall answers: out of the actual samples in a class, how many did the model find? F1 balances precision and recall. Confusion matrices help us inspect which class gets confused with which other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slide 9 preserved as provided. Present this slide first, then use the following explanation slide as your speaking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Conclude by saying that tree-based models fit this tabular soil dataset because they handle nonlinear threshold rules and do not require scaling. Random Forest improves stability through bagging and achieves the best accuracy. However, the minority High class is still the main limitation, so future work should collect more High Fertility samples, monitor data drift, store versioned model artifacts, and allow file/API input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mnt/data/soil_render/slide-1.png">    </p:cNvPr>
          <p:cNvPicPr>
            <a:picLocks noChangeAspect="1"/>
          </p:cNvPicPr>
          <p:nvPr/>
        </p:nvPicPr>
        <p:blipFill>
          <a:blip r:embed="rId1"/>
          <a:stretch>
            <a:fillRect/>
          </a:stretch>
        </p:blipFill>
        <p:spPr>
          <a:xfrm>
            <a:off x="0" y="0"/>
            <a:ext cx="9144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7F4"/>
        </a:solidFill>
      </p:bgPr>
    </p:bg>
    <p:spTree>
      <p:nvGrpSpPr>
        <p:cNvPr id="1" name=""/>
        <p:cNvGrpSpPr/>
        <p:nvPr/>
      </p:nvGrpSpPr>
      <p:grpSpPr>
        <a:xfrm>
          <a:off x="0" y="0"/>
          <a:ext cx="0" cy="0"/>
          <a:chOff x="0" y="0"/>
          <a:chExt cx="0" cy="0"/>
        </a:xfrm>
      </p:grpSpPr>
      <p:sp>
        <p:nvSpPr>
          <p:cNvPr id="2" name="Text 0"/>
          <p:cNvSpPr/>
          <p:nvPr/>
        </p:nvSpPr>
        <p:spPr>
          <a:xfrm>
            <a:off x="411480" y="256032"/>
            <a:ext cx="5440680" cy="320040"/>
          </a:xfrm>
          <a:prstGeom prst="rect">
            <a:avLst/>
          </a:prstGeom>
          <a:noFill/>
          <a:ln/>
        </p:spPr>
        <p:txBody>
          <a:bodyPr wrap="square" lIns="0" tIns="0" rIns="0" bIns="0" rtlCol="0" anchor="ctr"/>
          <a:lstStyle/>
          <a:p>
            <a:pPr indent="0" marL="0">
              <a:buNone/>
            </a:pPr>
            <a:r>
              <a:rPr lang="en-US" sz="1100" b="1" dirty="0">
                <a:solidFill>
                  <a:srgbClr val="1F8A55"/>
                </a:solidFill>
                <a:latin typeface="Aptos" pitchFamily="34" charset="0"/>
                <a:ea typeface="Aptos" pitchFamily="34" charset="-122"/>
                <a:cs typeface="Aptos" pitchFamily="34" charset="-120"/>
              </a:rPr>
              <a:t>Slide 1 — Explanation</a:t>
            </a:r>
            <a:endParaRPr lang="en-US" sz="1100" dirty="0"/>
          </a:p>
        </p:txBody>
      </p:sp>
      <p:sp>
        <p:nvSpPr>
          <p:cNvPr id="3" name="Text 1"/>
          <p:cNvSpPr/>
          <p:nvPr/>
        </p:nvSpPr>
        <p:spPr>
          <a:xfrm>
            <a:off x="411480" y="640080"/>
            <a:ext cx="5440680" cy="530352"/>
          </a:xfrm>
          <a:prstGeom prst="rect">
            <a:avLst/>
          </a:prstGeom>
          <a:noFill/>
          <a:ln/>
        </p:spPr>
        <p:txBody>
          <a:bodyPr wrap="square" lIns="0" tIns="0" rIns="0" bIns="0" rtlCol="0" anchor="ctr"/>
          <a:lstStyle/>
          <a:p>
            <a:pPr indent="0" marL="0">
              <a:buNone/>
            </a:pPr>
            <a:r>
              <a:rPr lang="en-US" sz="2600" b="1" dirty="0">
                <a:solidFill>
                  <a:srgbClr val="143126"/>
                </a:solidFill>
                <a:latin typeface="Aptos Display" pitchFamily="34" charset="0"/>
                <a:ea typeface="Aptos Display" pitchFamily="34" charset="-122"/>
                <a:cs typeface="Aptos Display" pitchFamily="34" charset="-120"/>
              </a:rPr>
              <a:t>How to Introduce the Project</a:t>
            </a:r>
            <a:endParaRPr lang="en-US" sz="2600" dirty="0"/>
          </a:p>
        </p:txBody>
      </p:sp>
      <p:sp>
        <p:nvSpPr>
          <p:cNvPr id="4" name="Text 2"/>
          <p:cNvSpPr/>
          <p:nvPr/>
        </p:nvSpPr>
        <p:spPr>
          <a:xfrm>
            <a:off x="429768" y="1261872"/>
            <a:ext cx="5212080" cy="502920"/>
          </a:xfrm>
          <a:prstGeom prst="rect">
            <a:avLst/>
          </a:prstGeom>
          <a:noFill/>
          <a:ln/>
        </p:spPr>
        <p:txBody>
          <a:bodyPr wrap="square" lIns="254" tIns="254" rIns="254" bIns="254" rtlCol="0" anchor="ctr">
            <a:normAutofit/>
          </a:bodyPr>
          <a:lstStyle/>
          <a:p>
            <a:pPr indent="0" marL="0">
              <a:buNone/>
            </a:pPr>
            <a:r>
              <a:rPr lang="en-US" sz="1500" i="1" dirty="0">
                <a:solidFill>
                  <a:srgbClr val="5D6B63"/>
                </a:solidFill>
                <a:latin typeface="Aptos" pitchFamily="34" charset="0"/>
                <a:ea typeface="Aptos" pitchFamily="34" charset="-122"/>
                <a:cs typeface="Aptos" pitchFamily="34" charset="-120"/>
              </a:rPr>
              <a:t>Frame it as a supervised, multiclass ML system — not just a model.</a:t>
            </a:r>
            <a:endParaRPr lang="en-US" sz="1500" dirty="0"/>
          </a:p>
        </p:txBody>
      </p:sp>
      <p:sp>
        <p:nvSpPr>
          <p:cNvPr id="5" name="Text 3"/>
          <p:cNvSpPr/>
          <p:nvPr/>
        </p:nvSpPr>
        <p:spPr>
          <a:xfrm>
            <a:off x="502920" y="1920240"/>
            <a:ext cx="5120640" cy="2057400"/>
          </a:xfrm>
          <a:prstGeom prst="rect">
            <a:avLst/>
          </a:prstGeom>
          <a:noFill/>
          <a:ln/>
        </p:spPr>
        <p:txBody>
          <a:bodyPr wrap="square" lIns="381" tIns="381" rIns="381" bIns="381" rtlCol="0" anchor="t">
            <a:normAutofit/>
          </a:bodyPr>
          <a:lstStyle/>
          <a:p>
            <a:pPr indent="0" marL="0">
              <a:buNone/>
            </a:pPr>
            <a:r>
              <a:rPr lang="en-US" sz="1700" dirty="0">
                <a:solidFill>
                  <a:srgbClr val="143126"/>
                </a:solidFill>
                <a:latin typeface="Aptos" pitchFamily="34" charset="0"/>
                <a:ea typeface="Aptos" pitchFamily="34" charset="-122"/>
                <a:cs typeface="Aptos" pitchFamily="34" charset="-120"/>
              </a:rPr>
              <a:t>• Goal: convert lab-measured soil values into Low, Medium or High fertility.</a:t>
            </a:r>
            <a:endParaRPr lang="en-US" sz="1700" dirty="0"/>
          </a:p>
          <a:p>
            <a:pPr indent="0" marL="0">
              <a:buNone/>
            </a:pPr>
            <a:r>
              <a:rPr lang="en-US" sz="1700" dirty="0">
                <a:solidFill>
                  <a:srgbClr val="143126"/>
                </a:solidFill>
                <a:latin typeface="Aptos" pitchFamily="34" charset="0"/>
                <a:ea typeface="Aptos" pitchFamily="34" charset="-122"/>
                <a:cs typeface="Aptos" pitchFamily="34" charset="-120"/>
              </a:rPr>
              <a:t>• Inputs: 12 soil properties such as N, P, K, pH, EC, OC and micronutrients.</a:t>
            </a:r>
            <a:endParaRPr lang="en-US" sz="1700" dirty="0"/>
          </a:p>
          <a:p>
            <a:pPr indent="0" marL="0">
              <a:buNone/>
            </a:pPr>
            <a:r>
              <a:rPr lang="en-US" sz="1700" dirty="0">
                <a:solidFill>
                  <a:srgbClr val="143126"/>
                </a:solidFill>
                <a:latin typeface="Aptos" pitchFamily="34" charset="0"/>
                <a:ea typeface="Aptos" pitchFamily="34" charset="-122"/>
                <a:cs typeface="Aptos" pitchFamily="34" charset="-120"/>
              </a:rPr>
              <a:t>• Scope: Dataset → EDA → Decision Tree → Random Forest → Flask prediction app.</a:t>
            </a:r>
            <a:endParaRPr lang="en-US" sz="1700" dirty="0"/>
          </a:p>
        </p:txBody>
      </p:sp>
      <p:sp>
        <p:nvSpPr>
          <p:cNvPr id="6" name="Text 4"/>
          <p:cNvSpPr/>
          <p:nvPr/>
        </p:nvSpPr>
        <p:spPr>
          <a:xfrm>
            <a:off x="502920" y="4279392"/>
            <a:ext cx="5212080" cy="274320"/>
          </a:xfrm>
          <a:prstGeom prst="rect">
            <a:avLst/>
          </a:prstGeom>
          <a:noFill/>
          <a:ln/>
        </p:spPr>
        <p:txBody>
          <a:bodyPr wrap="square" lIns="0" tIns="0" rIns="0" bIns="0" rtlCol="0" anchor="ctr"/>
          <a:lstStyle/>
          <a:p>
            <a:pPr indent="0" marL="0">
              <a:buNone/>
            </a:pPr>
            <a:r>
              <a:rPr lang="en-US" sz="1200" b="1" dirty="0">
                <a:solidFill>
                  <a:srgbClr val="F05A28"/>
                </a:solidFill>
                <a:latin typeface="Aptos" pitchFamily="34" charset="0"/>
                <a:ea typeface="Aptos" pitchFamily="34" charset="-122"/>
                <a:cs typeface="Aptos" pitchFamily="34" charset="-120"/>
              </a:rPr>
              <a:t>Say this in viva / presentation</a:t>
            </a:r>
            <a:endParaRPr lang="en-US" sz="1200" dirty="0"/>
          </a:p>
        </p:txBody>
      </p:sp>
      <p:sp>
        <p:nvSpPr>
          <p:cNvPr id="7" name="Text 5"/>
          <p:cNvSpPr/>
          <p:nvPr/>
        </p:nvSpPr>
        <p:spPr>
          <a:xfrm>
            <a:off x="502920" y="4608576"/>
            <a:ext cx="5257800" cy="960120"/>
          </a:xfrm>
          <a:prstGeom prst="rect">
            <a:avLst/>
          </a:prstGeom>
          <a:solidFill>
            <a:srgbClr val="FFFFFF"/>
          </a:solidFill>
          <a:ln w="12700">
            <a:solidFill>
              <a:srgbClr val="D8E5DA"/>
            </a:solidFill>
          </a:ln>
        </p:spPr>
        <p:txBody>
          <a:bodyPr wrap="square" lIns="762" tIns="762" rIns="762" bIns="762" rtlCol="0" anchor="ctr">
            <a:normAutofit/>
          </a:bodyPr>
          <a:lstStyle/>
          <a:p>
            <a:pPr indent="0" marL="0">
              <a:buNone/>
            </a:pPr>
            <a:r>
              <a:rPr lang="en-US" sz="1700" b="1" dirty="0">
                <a:solidFill>
                  <a:srgbClr val="062B20"/>
                </a:solidFill>
                <a:latin typeface="Aptos" pitchFamily="34" charset="0"/>
                <a:ea typeface="Aptos" pitchFamily="34" charset="-122"/>
                <a:cs typeface="Aptos" pitchFamily="34" charset="-120"/>
              </a:rPr>
              <a:t>“This project learns a mapping from soil parameters to one of three fertility classes.”</a:t>
            </a:r>
            <a:endParaRPr lang="en-US" sz="1700" dirty="0"/>
          </a:p>
        </p:txBody>
      </p:sp>
      <p:sp>
        <p:nvSpPr>
          <p:cNvPr id="8" name="Text 6"/>
          <p:cNvSpPr/>
          <p:nvPr/>
        </p:nvSpPr>
        <p:spPr>
          <a:xfrm>
            <a:off x="5989320" y="777240"/>
            <a:ext cx="2743200" cy="228600"/>
          </a:xfrm>
          <a:prstGeom prst="rect">
            <a:avLst/>
          </a:prstGeom>
          <a:noFill/>
          <a:ln/>
        </p:spPr>
        <p:txBody>
          <a:bodyPr wrap="square" lIns="0" tIns="0" rIns="0" bIns="0" rtlCol="0" anchor="ctr"/>
          <a:lstStyle/>
          <a:p>
            <a:pPr indent="0" marL="0">
              <a:buNone/>
            </a:pPr>
            <a:r>
              <a:rPr lang="en-US" sz="1000" b="1" dirty="0">
                <a:solidFill>
                  <a:srgbClr val="5D6B63"/>
                </a:solidFill>
                <a:latin typeface="Aptos" pitchFamily="34" charset="0"/>
                <a:ea typeface="Aptos" pitchFamily="34" charset="-122"/>
                <a:cs typeface="Aptos" pitchFamily="34" charset="-120"/>
              </a:rPr>
              <a:t>Reference slide kept unchanged</a:t>
            </a:r>
            <a:endParaRPr lang="en-US" sz="1000" dirty="0"/>
          </a:p>
        </p:txBody>
      </p:sp>
      <p:pic>
        <p:nvPicPr>
          <p:cNvPr id="9" name="Image 0" descr="/mnt/data/soil_render/slide-1.png">    </p:cNvPr>
          <p:cNvPicPr>
            <a:picLocks noChangeAspect="1"/>
          </p:cNvPicPr>
          <p:nvPr/>
        </p:nvPicPr>
        <p:blipFill>
          <a:blip r:embed="rId1"/>
          <a:stretch>
            <a:fillRect/>
          </a:stretch>
        </p:blipFill>
        <p:spPr>
          <a:xfrm>
            <a:off x="5989320" y="1078992"/>
            <a:ext cx="2743200" cy="2057400"/>
          </a:xfrm>
          <a:prstGeom prst="rect">
            <a:avLst/>
          </a:prstGeom>
        </p:spPr>
      </p:pic>
      <p:sp>
        <p:nvSpPr>
          <p:cNvPr id="10" name="Text 7"/>
          <p:cNvSpPr/>
          <p:nvPr/>
        </p:nvSpPr>
        <p:spPr>
          <a:xfrm>
            <a:off x="5989320" y="3474720"/>
            <a:ext cx="2743200" cy="256032"/>
          </a:xfrm>
          <a:prstGeom prst="rect">
            <a:avLst/>
          </a:prstGeom>
          <a:noFill/>
          <a:ln/>
        </p:spPr>
        <p:txBody>
          <a:bodyPr wrap="square" lIns="0" tIns="0" rIns="0" bIns="0" rtlCol="0" anchor="ctr"/>
          <a:lstStyle/>
          <a:p>
            <a:pPr indent="0" marL="0">
              <a:buNone/>
            </a:pPr>
            <a:r>
              <a:rPr lang="en-US" sz="1200" b="1" dirty="0">
                <a:solidFill>
                  <a:srgbClr val="1F8A55"/>
                </a:solidFill>
                <a:latin typeface="Aptos" pitchFamily="34" charset="0"/>
                <a:ea typeface="Aptos" pitchFamily="34" charset="-122"/>
                <a:cs typeface="Aptos" pitchFamily="34" charset="-120"/>
              </a:rPr>
              <a:t>Quick structure to speak</a:t>
            </a:r>
            <a:endParaRPr lang="en-US" sz="1200" dirty="0"/>
          </a:p>
        </p:txBody>
      </p:sp>
      <p:sp>
        <p:nvSpPr>
          <p:cNvPr id="11" name="Text 8"/>
          <p:cNvSpPr/>
          <p:nvPr/>
        </p:nvSpPr>
        <p:spPr>
          <a:xfrm>
            <a:off x="5989320" y="3822192"/>
            <a:ext cx="2743200" cy="1143000"/>
          </a:xfrm>
          <a:prstGeom prst="rect">
            <a:avLst/>
          </a:prstGeom>
          <a:noFill/>
          <a:ln/>
        </p:spPr>
        <p:txBody>
          <a:bodyPr wrap="square" lIns="508" tIns="508" rIns="508" bIns="508" rtlCol="0" anchor="t">
            <a:normAutofit/>
          </a:bodyPr>
          <a:lstStyle/>
          <a:p>
            <a:pPr indent="0" marL="0">
              <a:buNone/>
            </a:pPr>
            <a:r>
              <a:rPr lang="en-US" sz="1500" dirty="0">
                <a:solidFill>
                  <a:srgbClr val="143126"/>
                </a:solidFill>
                <a:latin typeface="Aptos" pitchFamily="34" charset="0"/>
                <a:ea typeface="Aptos" pitchFamily="34" charset="-122"/>
                <a:cs typeface="Aptos" pitchFamily="34" charset="-120"/>
              </a:rPr>
              <a:t>1. State the purpose</a:t>
            </a:r>
            <a:endParaRPr lang="en-US" sz="1500" dirty="0"/>
          </a:p>
          <a:p>
            <a:pPr indent="0" marL="0">
              <a:buNone/>
            </a:pPr>
            <a:r>
              <a:rPr lang="en-US" sz="1500" dirty="0">
                <a:solidFill>
                  <a:srgbClr val="143126"/>
                </a:solidFill>
                <a:latin typeface="Aptos" pitchFamily="34" charset="0"/>
                <a:ea typeface="Aptos" pitchFamily="34" charset="-122"/>
                <a:cs typeface="Aptos" pitchFamily="34" charset="-120"/>
              </a:rPr>
              <a:t>2. Explain the method</a:t>
            </a:r>
            <a:endParaRPr lang="en-US" sz="1500" dirty="0"/>
          </a:p>
          <a:p>
            <a:pPr indent="0" marL="0">
              <a:buNone/>
            </a:pPr>
            <a:r>
              <a:rPr lang="en-US" sz="1500" dirty="0">
                <a:solidFill>
                  <a:srgbClr val="143126"/>
                </a:solidFill>
                <a:latin typeface="Aptos" pitchFamily="34" charset="0"/>
                <a:ea typeface="Aptos" pitchFamily="34" charset="-122"/>
                <a:cs typeface="Aptos" pitchFamily="34" charset="-120"/>
              </a:rPr>
              <a:t>3. Justify why it fits</a:t>
            </a:r>
            <a:endParaRPr lang="en-US" sz="1500" dirty="0"/>
          </a:p>
          <a:p>
            <a:pPr indent="0" marL="0">
              <a:buNone/>
            </a:pPr>
            <a:r>
              <a:rPr lang="en-US" sz="1500" dirty="0">
                <a:solidFill>
                  <a:srgbClr val="143126"/>
                </a:solidFill>
                <a:latin typeface="Aptos" pitchFamily="34" charset="0"/>
                <a:ea typeface="Aptos" pitchFamily="34" charset="-122"/>
                <a:cs typeface="Aptos" pitchFamily="34" charset="-120"/>
              </a:rPr>
              <a:t>4. Mention the limitation</a:t>
            </a:r>
            <a:endParaRPr lang="en-US" sz="1500" dirty="0"/>
          </a:p>
        </p:txBody>
      </p:sp>
      <p:sp>
        <p:nvSpPr>
          <p:cNvPr id="12" name="Text 9"/>
          <p:cNvSpPr/>
          <p:nvPr/>
        </p:nvSpPr>
        <p:spPr>
          <a:xfrm>
            <a:off x="5989320" y="5285232"/>
            <a:ext cx="2743200" cy="822960"/>
          </a:xfrm>
          <a:prstGeom prst="rect">
            <a:avLst/>
          </a:prstGeom>
          <a:noFill/>
          <a:ln/>
        </p:spPr>
        <p:txBody>
          <a:bodyPr wrap="square" lIns="508" tIns="508" rIns="508" bIns="508" rtlCol="0" anchor="ctr">
            <a:normAutofit/>
          </a:bodyPr>
          <a:lstStyle/>
          <a:p>
            <a:pPr indent="0" marL="0">
              <a:buNone/>
            </a:pPr>
            <a:r>
              <a:rPr lang="en-US" sz="1300" i="1" dirty="0">
                <a:solidFill>
                  <a:srgbClr val="5D6B63"/>
                </a:solidFill>
                <a:latin typeface="Aptos" pitchFamily="34" charset="0"/>
                <a:ea typeface="Aptos" pitchFamily="34" charset="-122"/>
                <a:cs typeface="Aptos" pitchFamily="34" charset="-120"/>
              </a:rPr>
              <a:t>Tip: Do not just read the slide. Use the slide as proof, then explain the reasoning in your own words.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mnt/data/soil_render/slide-2.png">    </p:cNvPr>
          <p:cNvPicPr>
            <a:picLocks noChangeAspect="1"/>
          </p:cNvPicPr>
          <p:nvPr/>
        </p:nvPicPr>
        <p:blipFill>
          <a:blip r:embed="rId1"/>
          <a:stretch>
            <a:fillRect/>
          </a:stretch>
        </p:blipFill>
        <p:spPr>
          <a:xfrm>
            <a:off x="0" y="0"/>
            <a:ext cx="9144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7F4"/>
        </a:solidFill>
      </p:bgPr>
    </p:bg>
    <p:spTree>
      <p:nvGrpSpPr>
        <p:cNvPr id="1" name=""/>
        <p:cNvGrpSpPr/>
        <p:nvPr/>
      </p:nvGrpSpPr>
      <p:grpSpPr>
        <a:xfrm>
          <a:off x="0" y="0"/>
          <a:ext cx="0" cy="0"/>
          <a:chOff x="0" y="0"/>
          <a:chExt cx="0" cy="0"/>
        </a:xfrm>
      </p:grpSpPr>
      <p:sp>
        <p:nvSpPr>
          <p:cNvPr id="2" name="Text 0"/>
          <p:cNvSpPr/>
          <p:nvPr/>
        </p:nvSpPr>
        <p:spPr>
          <a:xfrm>
            <a:off x="411480" y="256032"/>
            <a:ext cx="5440680" cy="320040"/>
          </a:xfrm>
          <a:prstGeom prst="rect">
            <a:avLst/>
          </a:prstGeom>
          <a:noFill/>
          <a:ln/>
        </p:spPr>
        <p:txBody>
          <a:bodyPr wrap="square" lIns="0" tIns="0" rIns="0" bIns="0" rtlCol="0" anchor="ctr"/>
          <a:lstStyle/>
          <a:p>
            <a:pPr indent="0" marL="0">
              <a:buNone/>
            </a:pPr>
            <a:r>
              <a:rPr lang="en-US" sz="1100" b="1" dirty="0">
                <a:solidFill>
                  <a:srgbClr val="1F8A55"/>
                </a:solidFill>
                <a:latin typeface="Aptos" pitchFamily="34" charset="0"/>
                <a:ea typeface="Aptos" pitchFamily="34" charset="-122"/>
                <a:cs typeface="Aptos" pitchFamily="34" charset="-120"/>
              </a:rPr>
              <a:t>Slide 2 — Explanation</a:t>
            </a:r>
            <a:endParaRPr lang="en-US" sz="1100" dirty="0"/>
          </a:p>
        </p:txBody>
      </p:sp>
      <p:sp>
        <p:nvSpPr>
          <p:cNvPr id="3" name="Text 1"/>
          <p:cNvSpPr/>
          <p:nvPr/>
        </p:nvSpPr>
        <p:spPr>
          <a:xfrm>
            <a:off x="411480" y="640080"/>
            <a:ext cx="5440680" cy="530352"/>
          </a:xfrm>
          <a:prstGeom prst="rect">
            <a:avLst/>
          </a:prstGeom>
          <a:noFill/>
          <a:ln/>
        </p:spPr>
        <p:txBody>
          <a:bodyPr wrap="square" lIns="0" tIns="0" rIns="0" bIns="0" rtlCol="0" anchor="ctr"/>
          <a:lstStyle/>
          <a:p>
            <a:pPr indent="0" marL="0">
              <a:buNone/>
            </a:pPr>
            <a:r>
              <a:rPr lang="en-US" sz="2600" b="1" dirty="0">
                <a:solidFill>
                  <a:srgbClr val="143126"/>
                </a:solidFill>
                <a:latin typeface="Aptos Display" pitchFamily="34" charset="0"/>
                <a:ea typeface="Aptos Display" pitchFamily="34" charset="-122"/>
                <a:cs typeface="Aptos Display" pitchFamily="34" charset="-120"/>
              </a:rPr>
              <a:t>Problem + Objectives</a:t>
            </a:r>
            <a:endParaRPr lang="en-US" sz="2600" dirty="0"/>
          </a:p>
        </p:txBody>
      </p:sp>
      <p:sp>
        <p:nvSpPr>
          <p:cNvPr id="4" name="Text 2"/>
          <p:cNvSpPr/>
          <p:nvPr/>
        </p:nvSpPr>
        <p:spPr>
          <a:xfrm>
            <a:off x="429768" y="1261872"/>
            <a:ext cx="5212080" cy="502920"/>
          </a:xfrm>
          <a:prstGeom prst="rect">
            <a:avLst/>
          </a:prstGeom>
          <a:noFill/>
          <a:ln/>
        </p:spPr>
        <p:txBody>
          <a:bodyPr wrap="square" lIns="254" tIns="254" rIns="254" bIns="254" rtlCol="0" anchor="ctr">
            <a:normAutofit/>
          </a:bodyPr>
          <a:lstStyle/>
          <a:p>
            <a:pPr indent="0" marL="0">
              <a:buNone/>
            </a:pPr>
            <a:r>
              <a:rPr lang="en-US" sz="1500" i="1" dirty="0">
                <a:solidFill>
                  <a:srgbClr val="5D6B63"/>
                </a:solidFill>
                <a:latin typeface="Aptos" pitchFamily="34" charset="0"/>
                <a:ea typeface="Aptos" pitchFamily="34" charset="-122"/>
                <a:cs typeface="Aptos" pitchFamily="34" charset="-120"/>
              </a:rPr>
              <a:t>The real problem is making soil-test numbers understandable and actionable.</a:t>
            </a:r>
            <a:endParaRPr lang="en-US" sz="1500" dirty="0"/>
          </a:p>
        </p:txBody>
      </p:sp>
      <p:sp>
        <p:nvSpPr>
          <p:cNvPr id="5" name="Text 3"/>
          <p:cNvSpPr/>
          <p:nvPr/>
        </p:nvSpPr>
        <p:spPr>
          <a:xfrm>
            <a:off x="502920" y="1920240"/>
            <a:ext cx="5120640" cy="2057400"/>
          </a:xfrm>
          <a:prstGeom prst="rect">
            <a:avLst/>
          </a:prstGeom>
          <a:noFill/>
          <a:ln/>
        </p:spPr>
        <p:txBody>
          <a:bodyPr wrap="square" lIns="381" tIns="381" rIns="381" bIns="381" rtlCol="0" anchor="t">
            <a:normAutofit/>
          </a:bodyPr>
          <a:lstStyle/>
          <a:p>
            <a:pPr indent="0" marL="0">
              <a:buNone/>
            </a:pPr>
            <a:r>
              <a:rPr lang="en-US" sz="1700" dirty="0">
                <a:solidFill>
                  <a:srgbClr val="143126"/>
                </a:solidFill>
                <a:latin typeface="Aptos" pitchFamily="34" charset="0"/>
                <a:ea typeface="Aptos" pitchFamily="34" charset="-122"/>
                <a:cs typeface="Aptos" pitchFamily="34" charset="-120"/>
              </a:rPr>
              <a:t>• Nutrients vary widely, so fertility cannot be judged from one value alone.</a:t>
            </a:r>
            <a:endParaRPr lang="en-US" sz="1700" dirty="0"/>
          </a:p>
          <a:p>
            <a:pPr indent="0" marL="0">
              <a:buNone/>
            </a:pPr>
            <a:r>
              <a:rPr lang="en-US" sz="1700" dirty="0">
                <a:solidFill>
                  <a:srgbClr val="143126"/>
                </a:solidFill>
                <a:latin typeface="Aptos" pitchFamily="34" charset="0"/>
                <a:ea typeface="Aptos" pitchFamily="34" charset="-122"/>
                <a:cs typeface="Aptos" pitchFamily="34" charset="-120"/>
              </a:rPr>
              <a:t>• High fertility has only 39 samples, so accuracy alone can give a false sense of success.</a:t>
            </a:r>
            <a:endParaRPr lang="en-US" sz="1700" dirty="0"/>
          </a:p>
          <a:p>
            <a:pPr indent="0" marL="0">
              <a:buNone/>
            </a:pPr>
            <a:r>
              <a:rPr lang="en-US" sz="1700" dirty="0">
                <a:solidFill>
                  <a:srgbClr val="143126"/>
                </a:solidFill>
                <a:latin typeface="Aptos" pitchFamily="34" charset="0"/>
                <a:ea typeface="Aptos" pitchFamily="34" charset="-122"/>
                <a:cs typeface="Aptos" pitchFamily="34" charset="-120"/>
              </a:rPr>
              <a:t>• Agriculture users need simple rules and feature importance, not only a black-box label.</a:t>
            </a:r>
            <a:endParaRPr lang="en-US" sz="1700" dirty="0"/>
          </a:p>
        </p:txBody>
      </p:sp>
      <p:sp>
        <p:nvSpPr>
          <p:cNvPr id="6" name="Text 4"/>
          <p:cNvSpPr/>
          <p:nvPr/>
        </p:nvSpPr>
        <p:spPr>
          <a:xfrm>
            <a:off x="502920" y="4279392"/>
            <a:ext cx="5212080" cy="274320"/>
          </a:xfrm>
          <a:prstGeom prst="rect">
            <a:avLst/>
          </a:prstGeom>
          <a:noFill/>
          <a:ln/>
        </p:spPr>
        <p:txBody>
          <a:bodyPr wrap="square" lIns="0" tIns="0" rIns="0" bIns="0" rtlCol="0" anchor="ctr"/>
          <a:lstStyle/>
          <a:p>
            <a:pPr indent="0" marL="0">
              <a:buNone/>
            </a:pPr>
            <a:r>
              <a:rPr lang="en-US" sz="1200" b="1" dirty="0">
                <a:solidFill>
                  <a:srgbClr val="F05A28"/>
                </a:solidFill>
                <a:latin typeface="Aptos" pitchFamily="34" charset="0"/>
                <a:ea typeface="Aptos" pitchFamily="34" charset="-122"/>
                <a:cs typeface="Aptos" pitchFamily="34" charset="-120"/>
              </a:rPr>
              <a:t>Say this in viva / presentation</a:t>
            </a:r>
            <a:endParaRPr lang="en-US" sz="1200" dirty="0"/>
          </a:p>
        </p:txBody>
      </p:sp>
      <p:sp>
        <p:nvSpPr>
          <p:cNvPr id="7" name="Text 5"/>
          <p:cNvSpPr/>
          <p:nvPr/>
        </p:nvSpPr>
        <p:spPr>
          <a:xfrm>
            <a:off x="502920" y="4608576"/>
            <a:ext cx="5257800" cy="960120"/>
          </a:xfrm>
          <a:prstGeom prst="rect">
            <a:avLst/>
          </a:prstGeom>
          <a:solidFill>
            <a:srgbClr val="FFFFFF"/>
          </a:solidFill>
          <a:ln w="12700">
            <a:solidFill>
              <a:srgbClr val="D8E5DA"/>
            </a:solidFill>
          </a:ln>
        </p:spPr>
        <p:txBody>
          <a:bodyPr wrap="square" lIns="762" tIns="762" rIns="762" bIns="762" rtlCol="0" anchor="ctr">
            <a:normAutofit/>
          </a:bodyPr>
          <a:lstStyle/>
          <a:p>
            <a:pPr indent="0" marL="0">
              <a:buNone/>
            </a:pPr>
            <a:r>
              <a:rPr lang="en-US" sz="1700" b="1" dirty="0">
                <a:solidFill>
                  <a:srgbClr val="062B20"/>
                </a:solidFill>
                <a:latin typeface="Aptos" pitchFamily="34" charset="0"/>
                <a:ea typeface="Aptos" pitchFamily="34" charset="-122"/>
                <a:cs typeface="Aptos" pitchFamily="34" charset="-120"/>
              </a:rPr>
              <a:t>“A good model should perform well overall and also avoid ignoring the rare High Fertility class.”</a:t>
            </a:r>
            <a:endParaRPr lang="en-US" sz="1700" dirty="0"/>
          </a:p>
        </p:txBody>
      </p:sp>
      <p:sp>
        <p:nvSpPr>
          <p:cNvPr id="8" name="Text 6"/>
          <p:cNvSpPr/>
          <p:nvPr/>
        </p:nvSpPr>
        <p:spPr>
          <a:xfrm>
            <a:off x="5989320" y="777240"/>
            <a:ext cx="2743200" cy="228600"/>
          </a:xfrm>
          <a:prstGeom prst="rect">
            <a:avLst/>
          </a:prstGeom>
          <a:noFill/>
          <a:ln/>
        </p:spPr>
        <p:txBody>
          <a:bodyPr wrap="square" lIns="0" tIns="0" rIns="0" bIns="0" rtlCol="0" anchor="ctr"/>
          <a:lstStyle/>
          <a:p>
            <a:pPr indent="0" marL="0">
              <a:buNone/>
            </a:pPr>
            <a:r>
              <a:rPr lang="en-US" sz="1000" b="1" dirty="0">
                <a:solidFill>
                  <a:srgbClr val="5D6B63"/>
                </a:solidFill>
                <a:latin typeface="Aptos" pitchFamily="34" charset="0"/>
                <a:ea typeface="Aptos" pitchFamily="34" charset="-122"/>
                <a:cs typeface="Aptos" pitchFamily="34" charset="-120"/>
              </a:rPr>
              <a:t>Reference slide kept unchanged</a:t>
            </a:r>
            <a:endParaRPr lang="en-US" sz="1000" dirty="0"/>
          </a:p>
        </p:txBody>
      </p:sp>
      <p:pic>
        <p:nvPicPr>
          <p:cNvPr id="9" name="Image 0" descr="/mnt/data/soil_render/slide-2.png">    </p:cNvPr>
          <p:cNvPicPr>
            <a:picLocks noChangeAspect="1"/>
          </p:cNvPicPr>
          <p:nvPr/>
        </p:nvPicPr>
        <p:blipFill>
          <a:blip r:embed="rId1"/>
          <a:stretch>
            <a:fillRect/>
          </a:stretch>
        </p:blipFill>
        <p:spPr>
          <a:xfrm>
            <a:off x="5989320" y="1078992"/>
            <a:ext cx="2743200" cy="2057400"/>
          </a:xfrm>
          <a:prstGeom prst="rect">
            <a:avLst/>
          </a:prstGeom>
        </p:spPr>
      </p:pic>
      <p:sp>
        <p:nvSpPr>
          <p:cNvPr id="10" name="Text 7"/>
          <p:cNvSpPr/>
          <p:nvPr/>
        </p:nvSpPr>
        <p:spPr>
          <a:xfrm>
            <a:off x="5989320" y="3474720"/>
            <a:ext cx="2743200" cy="256032"/>
          </a:xfrm>
          <a:prstGeom prst="rect">
            <a:avLst/>
          </a:prstGeom>
          <a:noFill/>
          <a:ln/>
        </p:spPr>
        <p:txBody>
          <a:bodyPr wrap="square" lIns="0" tIns="0" rIns="0" bIns="0" rtlCol="0" anchor="ctr"/>
          <a:lstStyle/>
          <a:p>
            <a:pPr indent="0" marL="0">
              <a:buNone/>
            </a:pPr>
            <a:r>
              <a:rPr lang="en-US" sz="1200" b="1" dirty="0">
                <a:solidFill>
                  <a:srgbClr val="1F8A55"/>
                </a:solidFill>
                <a:latin typeface="Aptos" pitchFamily="34" charset="0"/>
                <a:ea typeface="Aptos" pitchFamily="34" charset="-122"/>
                <a:cs typeface="Aptos" pitchFamily="34" charset="-120"/>
              </a:rPr>
              <a:t>Quick structure to speak</a:t>
            </a:r>
            <a:endParaRPr lang="en-US" sz="1200" dirty="0"/>
          </a:p>
        </p:txBody>
      </p:sp>
      <p:sp>
        <p:nvSpPr>
          <p:cNvPr id="11" name="Text 8"/>
          <p:cNvSpPr/>
          <p:nvPr/>
        </p:nvSpPr>
        <p:spPr>
          <a:xfrm>
            <a:off x="5989320" y="3822192"/>
            <a:ext cx="2743200" cy="1143000"/>
          </a:xfrm>
          <a:prstGeom prst="rect">
            <a:avLst/>
          </a:prstGeom>
          <a:noFill/>
          <a:ln/>
        </p:spPr>
        <p:txBody>
          <a:bodyPr wrap="square" lIns="508" tIns="508" rIns="508" bIns="508" rtlCol="0" anchor="t">
            <a:normAutofit/>
          </a:bodyPr>
          <a:lstStyle/>
          <a:p>
            <a:pPr indent="0" marL="0">
              <a:buNone/>
            </a:pPr>
            <a:r>
              <a:rPr lang="en-US" sz="1500" dirty="0">
                <a:solidFill>
                  <a:srgbClr val="143126"/>
                </a:solidFill>
                <a:latin typeface="Aptos" pitchFamily="34" charset="0"/>
                <a:ea typeface="Aptos" pitchFamily="34" charset="-122"/>
                <a:cs typeface="Aptos" pitchFamily="34" charset="-120"/>
              </a:rPr>
              <a:t>1. State the purpose</a:t>
            </a:r>
            <a:endParaRPr lang="en-US" sz="1500" dirty="0"/>
          </a:p>
          <a:p>
            <a:pPr indent="0" marL="0">
              <a:buNone/>
            </a:pPr>
            <a:r>
              <a:rPr lang="en-US" sz="1500" dirty="0">
                <a:solidFill>
                  <a:srgbClr val="143126"/>
                </a:solidFill>
                <a:latin typeface="Aptos" pitchFamily="34" charset="0"/>
                <a:ea typeface="Aptos" pitchFamily="34" charset="-122"/>
                <a:cs typeface="Aptos" pitchFamily="34" charset="-120"/>
              </a:rPr>
              <a:t>2. Explain the method</a:t>
            </a:r>
            <a:endParaRPr lang="en-US" sz="1500" dirty="0"/>
          </a:p>
          <a:p>
            <a:pPr indent="0" marL="0">
              <a:buNone/>
            </a:pPr>
            <a:r>
              <a:rPr lang="en-US" sz="1500" dirty="0">
                <a:solidFill>
                  <a:srgbClr val="143126"/>
                </a:solidFill>
                <a:latin typeface="Aptos" pitchFamily="34" charset="0"/>
                <a:ea typeface="Aptos" pitchFamily="34" charset="-122"/>
                <a:cs typeface="Aptos" pitchFamily="34" charset="-120"/>
              </a:rPr>
              <a:t>3. Justify why it fits</a:t>
            </a:r>
            <a:endParaRPr lang="en-US" sz="1500" dirty="0"/>
          </a:p>
          <a:p>
            <a:pPr indent="0" marL="0">
              <a:buNone/>
            </a:pPr>
            <a:r>
              <a:rPr lang="en-US" sz="1500" dirty="0">
                <a:solidFill>
                  <a:srgbClr val="143126"/>
                </a:solidFill>
                <a:latin typeface="Aptos" pitchFamily="34" charset="0"/>
                <a:ea typeface="Aptos" pitchFamily="34" charset="-122"/>
                <a:cs typeface="Aptos" pitchFamily="34" charset="-120"/>
              </a:rPr>
              <a:t>4. Mention the limitation</a:t>
            </a:r>
            <a:endParaRPr lang="en-US" sz="1500" dirty="0"/>
          </a:p>
        </p:txBody>
      </p:sp>
      <p:sp>
        <p:nvSpPr>
          <p:cNvPr id="12" name="Text 9"/>
          <p:cNvSpPr/>
          <p:nvPr/>
        </p:nvSpPr>
        <p:spPr>
          <a:xfrm>
            <a:off x="5989320" y="5285232"/>
            <a:ext cx="2743200" cy="822960"/>
          </a:xfrm>
          <a:prstGeom prst="rect">
            <a:avLst/>
          </a:prstGeom>
          <a:noFill/>
          <a:ln/>
        </p:spPr>
        <p:txBody>
          <a:bodyPr wrap="square" lIns="508" tIns="508" rIns="508" bIns="508" rtlCol="0" anchor="ctr">
            <a:normAutofit/>
          </a:bodyPr>
          <a:lstStyle/>
          <a:p>
            <a:pPr indent="0" marL="0">
              <a:buNone/>
            </a:pPr>
            <a:r>
              <a:rPr lang="en-US" sz="1300" i="1" dirty="0">
                <a:solidFill>
                  <a:srgbClr val="5D6B63"/>
                </a:solidFill>
                <a:latin typeface="Aptos" pitchFamily="34" charset="0"/>
                <a:ea typeface="Aptos" pitchFamily="34" charset="-122"/>
                <a:cs typeface="Aptos" pitchFamily="34" charset="-120"/>
              </a:rPr>
              <a:t>Tip: Do not just read the slide. Use the slide as proof, then explain the reasoning in your own words.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mnt/data/soil_render/slide-3.png">    </p:cNvPr>
          <p:cNvPicPr>
            <a:picLocks noChangeAspect="1"/>
          </p:cNvPicPr>
          <p:nvPr/>
        </p:nvPicPr>
        <p:blipFill>
          <a:blip r:embed="rId1"/>
          <a:stretch>
            <a:fillRect/>
          </a:stretch>
        </p:blipFill>
        <p:spPr>
          <a:xfrm>
            <a:off x="0" y="0"/>
            <a:ext cx="9144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7F4"/>
        </a:solidFill>
      </p:bgPr>
    </p:bg>
    <p:spTree>
      <p:nvGrpSpPr>
        <p:cNvPr id="1" name=""/>
        <p:cNvGrpSpPr/>
        <p:nvPr/>
      </p:nvGrpSpPr>
      <p:grpSpPr>
        <a:xfrm>
          <a:off x="0" y="0"/>
          <a:ext cx="0" cy="0"/>
          <a:chOff x="0" y="0"/>
          <a:chExt cx="0" cy="0"/>
        </a:xfrm>
      </p:grpSpPr>
      <p:sp>
        <p:nvSpPr>
          <p:cNvPr id="2" name="Text 0"/>
          <p:cNvSpPr/>
          <p:nvPr/>
        </p:nvSpPr>
        <p:spPr>
          <a:xfrm>
            <a:off x="411480" y="256032"/>
            <a:ext cx="5440680" cy="320040"/>
          </a:xfrm>
          <a:prstGeom prst="rect">
            <a:avLst/>
          </a:prstGeom>
          <a:noFill/>
          <a:ln/>
        </p:spPr>
        <p:txBody>
          <a:bodyPr wrap="square" lIns="0" tIns="0" rIns="0" bIns="0" rtlCol="0" anchor="ctr"/>
          <a:lstStyle/>
          <a:p>
            <a:pPr indent="0" marL="0">
              <a:buNone/>
            </a:pPr>
            <a:r>
              <a:rPr lang="en-US" sz="1100" b="1" dirty="0">
                <a:solidFill>
                  <a:srgbClr val="1F8A55"/>
                </a:solidFill>
                <a:latin typeface="Aptos" pitchFamily="34" charset="0"/>
                <a:ea typeface="Aptos" pitchFamily="34" charset="-122"/>
                <a:cs typeface="Aptos" pitchFamily="34" charset="-120"/>
              </a:rPr>
              <a:t>Slide 3 — Explanation</a:t>
            </a:r>
            <a:endParaRPr lang="en-US" sz="1100" dirty="0"/>
          </a:p>
        </p:txBody>
      </p:sp>
      <p:sp>
        <p:nvSpPr>
          <p:cNvPr id="3" name="Text 1"/>
          <p:cNvSpPr/>
          <p:nvPr/>
        </p:nvSpPr>
        <p:spPr>
          <a:xfrm>
            <a:off x="411480" y="640080"/>
            <a:ext cx="5440680" cy="530352"/>
          </a:xfrm>
          <a:prstGeom prst="rect">
            <a:avLst/>
          </a:prstGeom>
          <a:noFill/>
          <a:ln/>
        </p:spPr>
        <p:txBody>
          <a:bodyPr wrap="square" lIns="0" tIns="0" rIns="0" bIns="0" rtlCol="0" anchor="ctr"/>
          <a:lstStyle/>
          <a:p>
            <a:pPr indent="0" marL="0">
              <a:buNone/>
            </a:pPr>
            <a:r>
              <a:rPr lang="en-US" sz="2600" b="1" dirty="0">
                <a:solidFill>
                  <a:srgbClr val="143126"/>
                </a:solidFill>
                <a:latin typeface="Aptos Display" pitchFamily="34" charset="0"/>
                <a:ea typeface="Aptos Display" pitchFamily="34" charset="-122"/>
                <a:cs typeface="Aptos Display" pitchFamily="34" charset="-120"/>
              </a:rPr>
              <a:t>Dataset + Preprocessing</a:t>
            </a:r>
            <a:endParaRPr lang="en-US" sz="2600" dirty="0"/>
          </a:p>
        </p:txBody>
      </p:sp>
      <p:sp>
        <p:nvSpPr>
          <p:cNvPr id="4" name="Text 2"/>
          <p:cNvSpPr/>
          <p:nvPr/>
        </p:nvSpPr>
        <p:spPr>
          <a:xfrm>
            <a:off x="429768" y="1261872"/>
            <a:ext cx="5212080" cy="502920"/>
          </a:xfrm>
          <a:prstGeom prst="rect">
            <a:avLst/>
          </a:prstGeom>
          <a:noFill/>
          <a:ln/>
        </p:spPr>
        <p:txBody>
          <a:bodyPr wrap="square" lIns="254" tIns="254" rIns="254" bIns="254" rtlCol="0" anchor="ctr">
            <a:normAutofit/>
          </a:bodyPr>
          <a:lstStyle/>
          <a:p>
            <a:pPr indent="0" marL="0">
              <a:buNone/>
            </a:pPr>
            <a:r>
              <a:rPr lang="en-US" sz="1500" i="1" dirty="0">
                <a:solidFill>
                  <a:srgbClr val="5D6B63"/>
                </a:solidFill>
                <a:latin typeface="Aptos" pitchFamily="34" charset="0"/>
                <a:ea typeface="Aptos" pitchFamily="34" charset="-122"/>
                <a:cs typeface="Aptos" pitchFamily="34" charset="-120"/>
              </a:rPr>
              <a:t>This is a clean tabular dataset, but the target distribution is imbalanced.</a:t>
            </a:r>
            <a:endParaRPr lang="en-US" sz="1500" dirty="0"/>
          </a:p>
        </p:txBody>
      </p:sp>
      <p:sp>
        <p:nvSpPr>
          <p:cNvPr id="5" name="Text 3"/>
          <p:cNvSpPr/>
          <p:nvPr/>
        </p:nvSpPr>
        <p:spPr>
          <a:xfrm>
            <a:off x="502920" y="1920240"/>
            <a:ext cx="5120640" cy="2057400"/>
          </a:xfrm>
          <a:prstGeom prst="rect">
            <a:avLst/>
          </a:prstGeom>
          <a:noFill/>
          <a:ln/>
        </p:spPr>
        <p:txBody>
          <a:bodyPr wrap="square" lIns="381" tIns="381" rIns="381" bIns="381" rtlCol="0" anchor="t">
            <a:normAutofit/>
          </a:bodyPr>
          <a:lstStyle/>
          <a:p>
            <a:pPr indent="0" marL="0">
              <a:buNone/>
            </a:pPr>
            <a:r>
              <a:rPr lang="en-US" sz="1700" dirty="0">
                <a:solidFill>
                  <a:srgbClr val="143126"/>
                </a:solidFill>
                <a:latin typeface="Aptos" pitchFamily="34" charset="0"/>
                <a:ea typeface="Aptos" pitchFamily="34" charset="-122"/>
                <a:cs typeface="Aptos" pitchFamily="34" charset="-120"/>
              </a:rPr>
              <a:t>• Dataset: 880 samples, 12 input features and 3 target classes.</a:t>
            </a:r>
            <a:endParaRPr lang="en-US" sz="1700" dirty="0"/>
          </a:p>
          <a:p>
            <a:pPr indent="0" marL="0">
              <a:buNone/>
            </a:pPr>
            <a:r>
              <a:rPr lang="en-US" sz="1700" dirty="0">
                <a:solidFill>
                  <a:srgbClr val="143126"/>
                </a:solidFill>
                <a:latin typeface="Aptos" pitchFamily="34" charset="0"/>
                <a:ea typeface="Aptos" pitchFamily="34" charset="-122"/>
                <a:cs typeface="Aptos" pitchFamily="34" charset="-120"/>
              </a:rPr>
              <a:t>• Features cover primary nutrients, pH/EC/OC and micronutrients like Zn, Fe, Cu, Mn and B.</a:t>
            </a:r>
            <a:endParaRPr lang="en-US" sz="1700" dirty="0"/>
          </a:p>
          <a:p>
            <a:pPr indent="0" marL="0">
              <a:buNone/>
            </a:pPr>
            <a:r>
              <a:rPr lang="en-US" sz="1700" dirty="0">
                <a:solidFill>
                  <a:srgbClr val="143126"/>
                </a:solidFill>
                <a:latin typeface="Aptos" pitchFamily="34" charset="0"/>
                <a:ea typeface="Aptos" pitchFamily="34" charset="-122"/>
                <a:cs typeface="Aptos" pitchFamily="34" charset="-120"/>
              </a:rPr>
              <a:t>• Preprocessing: zero nulls, stratified 80/20 split, and no scaling because tree models use thresholds.</a:t>
            </a:r>
            <a:endParaRPr lang="en-US" sz="1700" dirty="0"/>
          </a:p>
        </p:txBody>
      </p:sp>
      <p:sp>
        <p:nvSpPr>
          <p:cNvPr id="6" name="Text 4"/>
          <p:cNvSpPr/>
          <p:nvPr/>
        </p:nvSpPr>
        <p:spPr>
          <a:xfrm>
            <a:off x="502920" y="4279392"/>
            <a:ext cx="5212080" cy="274320"/>
          </a:xfrm>
          <a:prstGeom prst="rect">
            <a:avLst/>
          </a:prstGeom>
          <a:noFill/>
          <a:ln/>
        </p:spPr>
        <p:txBody>
          <a:bodyPr wrap="square" lIns="0" tIns="0" rIns="0" bIns="0" rtlCol="0" anchor="ctr"/>
          <a:lstStyle/>
          <a:p>
            <a:pPr indent="0" marL="0">
              <a:buNone/>
            </a:pPr>
            <a:r>
              <a:rPr lang="en-US" sz="1200" b="1" dirty="0">
                <a:solidFill>
                  <a:srgbClr val="F05A28"/>
                </a:solidFill>
                <a:latin typeface="Aptos" pitchFamily="34" charset="0"/>
                <a:ea typeface="Aptos" pitchFamily="34" charset="-122"/>
                <a:cs typeface="Aptos" pitchFamily="34" charset="-120"/>
              </a:rPr>
              <a:t>Say this in viva / presentation</a:t>
            </a:r>
            <a:endParaRPr lang="en-US" sz="1200" dirty="0"/>
          </a:p>
        </p:txBody>
      </p:sp>
      <p:sp>
        <p:nvSpPr>
          <p:cNvPr id="7" name="Text 5"/>
          <p:cNvSpPr/>
          <p:nvPr/>
        </p:nvSpPr>
        <p:spPr>
          <a:xfrm>
            <a:off x="502920" y="4608576"/>
            <a:ext cx="5257800" cy="960120"/>
          </a:xfrm>
          <a:prstGeom prst="rect">
            <a:avLst/>
          </a:prstGeom>
          <a:solidFill>
            <a:srgbClr val="FFFFFF"/>
          </a:solidFill>
          <a:ln w="12700">
            <a:solidFill>
              <a:srgbClr val="D8E5DA"/>
            </a:solidFill>
          </a:ln>
        </p:spPr>
        <p:txBody>
          <a:bodyPr wrap="square" lIns="762" tIns="762" rIns="762" bIns="762" rtlCol="0" anchor="ctr">
            <a:normAutofit/>
          </a:bodyPr>
          <a:lstStyle/>
          <a:p>
            <a:pPr indent="0" marL="0">
              <a:buNone/>
            </a:pPr>
            <a:r>
              <a:rPr lang="en-US" sz="1700" b="1" dirty="0">
                <a:solidFill>
                  <a:srgbClr val="062B20"/>
                </a:solidFill>
                <a:latin typeface="Aptos" pitchFamily="34" charset="0"/>
                <a:ea typeface="Aptos" pitchFamily="34" charset="-122"/>
                <a:cs typeface="Aptos" pitchFamily="34" charset="-120"/>
              </a:rPr>
              <a:t>“Stratified splitting was necessary because the High class is very small.”</a:t>
            </a:r>
            <a:endParaRPr lang="en-US" sz="1700" dirty="0"/>
          </a:p>
        </p:txBody>
      </p:sp>
      <p:sp>
        <p:nvSpPr>
          <p:cNvPr id="8" name="Text 6"/>
          <p:cNvSpPr/>
          <p:nvPr/>
        </p:nvSpPr>
        <p:spPr>
          <a:xfrm>
            <a:off x="5989320" y="777240"/>
            <a:ext cx="2743200" cy="228600"/>
          </a:xfrm>
          <a:prstGeom prst="rect">
            <a:avLst/>
          </a:prstGeom>
          <a:noFill/>
          <a:ln/>
        </p:spPr>
        <p:txBody>
          <a:bodyPr wrap="square" lIns="0" tIns="0" rIns="0" bIns="0" rtlCol="0" anchor="ctr"/>
          <a:lstStyle/>
          <a:p>
            <a:pPr indent="0" marL="0">
              <a:buNone/>
            </a:pPr>
            <a:r>
              <a:rPr lang="en-US" sz="1000" b="1" dirty="0">
                <a:solidFill>
                  <a:srgbClr val="5D6B63"/>
                </a:solidFill>
                <a:latin typeface="Aptos" pitchFamily="34" charset="0"/>
                <a:ea typeface="Aptos" pitchFamily="34" charset="-122"/>
                <a:cs typeface="Aptos" pitchFamily="34" charset="-120"/>
              </a:rPr>
              <a:t>Reference slide kept unchanged</a:t>
            </a:r>
            <a:endParaRPr lang="en-US" sz="1000" dirty="0"/>
          </a:p>
        </p:txBody>
      </p:sp>
      <p:pic>
        <p:nvPicPr>
          <p:cNvPr id="9" name="Image 0" descr="/mnt/data/soil_render/slide-3.png">    </p:cNvPr>
          <p:cNvPicPr>
            <a:picLocks noChangeAspect="1"/>
          </p:cNvPicPr>
          <p:nvPr/>
        </p:nvPicPr>
        <p:blipFill>
          <a:blip r:embed="rId1"/>
          <a:stretch>
            <a:fillRect/>
          </a:stretch>
        </p:blipFill>
        <p:spPr>
          <a:xfrm>
            <a:off x="5989320" y="1078992"/>
            <a:ext cx="2743200" cy="2057400"/>
          </a:xfrm>
          <a:prstGeom prst="rect">
            <a:avLst/>
          </a:prstGeom>
        </p:spPr>
      </p:pic>
      <p:sp>
        <p:nvSpPr>
          <p:cNvPr id="10" name="Text 7"/>
          <p:cNvSpPr/>
          <p:nvPr/>
        </p:nvSpPr>
        <p:spPr>
          <a:xfrm>
            <a:off x="5989320" y="3474720"/>
            <a:ext cx="2743200" cy="256032"/>
          </a:xfrm>
          <a:prstGeom prst="rect">
            <a:avLst/>
          </a:prstGeom>
          <a:noFill/>
          <a:ln/>
        </p:spPr>
        <p:txBody>
          <a:bodyPr wrap="square" lIns="0" tIns="0" rIns="0" bIns="0" rtlCol="0" anchor="ctr"/>
          <a:lstStyle/>
          <a:p>
            <a:pPr indent="0" marL="0">
              <a:buNone/>
            </a:pPr>
            <a:r>
              <a:rPr lang="en-US" sz="1200" b="1" dirty="0">
                <a:solidFill>
                  <a:srgbClr val="1F8A55"/>
                </a:solidFill>
                <a:latin typeface="Aptos" pitchFamily="34" charset="0"/>
                <a:ea typeface="Aptos" pitchFamily="34" charset="-122"/>
                <a:cs typeface="Aptos" pitchFamily="34" charset="-120"/>
              </a:rPr>
              <a:t>Quick structure to speak</a:t>
            </a:r>
            <a:endParaRPr lang="en-US" sz="1200" dirty="0"/>
          </a:p>
        </p:txBody>
      </p:sp>
      <p:sp>
        <p:nvSpPr>
          <p:cNvPr id="11" name="Text 8"/>
          <p:cNvSpPr/>
          <p:nvPr/>
        </p:nvSpPr>
        <p:spPr>
          <a:xfrm>
            <a:off x="5989320" y="3822192"/>
            <a:ext cx="2743200" cy="1143000"/>
          </a:xfrm>
          <a:prstGeom prst="rect">
            <a:avLst/>
          </a:prstGeom>
          <a:noFill/>
          <a:ln/>
        </p:spPr>
        <p:txBody>
          <a:bodyPr wrap="square" lIns="508" tIns="508" rIns="508" bIns="508" rtlCol="0" anchor="t">
            <a:normAutofit/>
          </a:bodyPr>
          <a:lstStyle/>
          <a:p>
            <a:pPr indent="0" marL="0">
              <a:buNone/>
            </a:pPr>
            <a:r>
              <a:rPr lang="en-US" sz="1500" dirty="0">
                <a:solidFill>
                  <a:srgbClr val="143126"/>
                </a:solidFill>
                <a:latin typeface="Aptos" pitchFamily="34" charset="0"/>
                <a:ea typeface="Aptos" pitchFamily="34" charset="-122"/>
                <a:cs typeface="Aptos" pitchFamily="34" charset="-120"/>
              </a:rPr>
              <a:t>1. State the purpose</a:t>
            </a:r>
            <a:endParaRPr lang="en-US" sz="1500" dirty="0"/>
          </a:p>
          <a:p>
            <a:pPr indent="0" marL="0">
              <a:buNone/>
            </a:pPr>
            <a:r>
              <a:rPr lang="en-US" sz="1500" dirty="0">
                <a:solidFill>
                  <a:srgbClr val="143126"/>
                </a:solidFill>
                <a:latin typeface="Aptos" pitchFamily="34" charset="0"/>
                <a:ea typeface="Aptos" pitchFamily="34" charset="-122"/>
                <a:cs typeface="Aptos" pitchFamily="34" charset="-120"/>
              </a:rPr>
              <a:t>2. Explain the method</a:t>
            </a:r>
            <a:endParaRPr lang="en-US" sz="1500" dirty="0"/>
          </a:p>
          <a:p>
            <a:pPr indent="0" marL="0">
              <a:buNone/>
            </a:pPr>
            <a:r>
              <a:rPr lang="en-US" sz="1500" dirty="0">
                <a:solidFill>
                  <a:srgbClr val="143126"/>
                </a:solidFill>
                <a:latin typeface="Aptos" pitchFamily="34" charset="0"/>
                <a:ea typeface="Aptos" pitchFamily="34" charset="-122"/>
                <a:cs typeface="Aptos" pitchFamily="34" charset="-120"/>
              </a:rPr>
              <a:t>3. Justify why it fits</a:t>
            </a:r>
            <a:endParaRPr lang="en-US" sz="1500" dirty="0"/>
          </a:p>
          <a:p>
            <a:pPr indent="0" marL="0">
              <a:buNone/>
            </a:pPr>
            <a:r>
              <a:rPr lang="en-US" sz="1500" dirty="0">
                <a:solidFill>
                  <a:srgbClr val="143126"/>
                </a:solidFill>
                <a:latin typeface="Aptos" pitchFamily="34" charset="0"/>
                <a:ea typeface="Aptos" pitchFamily="34" charset="-122"/>
                <a:cs typeface="Aptos" pitchFamily="34" charset="-120"/>
              </a:rPr>
              <a:t>4. Mention the limitation</a:t>
            </a:r>
            <a:endParaRPr lang="en-US" sz="1500" dirty="0"/>
          </a:p>
        </p:txBody>
      </p:sp>
      <p:sp>
        <p:nvSpPr>
          <p:cNvPr id="12" name="Text 9"/>
          <p:cNvSpPr/>
          <p:nvPr/>
        </p:nvSpPr>
        <p:spPr>
          <a:xfrm>
            <a:off x="5989320" y="5285232"/>
            <a:ext cx="2743200" cy="822960"/>
          </a:xfrm>
          <a:prstGeom prst="rect">
            <a:avLst/>
          </a:prstGeom>
          <a:noFill/>
          <a:ln/>
        </p:spPr>
        <p:txBody>
          <a:bodyPr wrap="square" lIns="508" tIns="508" rIns="508" bIns="508" rtlCol="0" anchor="ctr">
            <a:normAutofit/>
          </a:bodyPr>
          <a:lstStyle/>
          <a:p>
            <a:pPr indent="0" marL="0">
              <a:buNone/>
            </a:pPr>
            <a:r>
              <a:rPr lang="en-US" sz="1300" i="1" dirty="0">
                <a:solidFill>
                  <a:srgbClr val="5D6B63"/>
                </a:solidFill>
                <a:latin typeface="Aptos" pitchFamily="34" charset="0"/>
                <a:ea typeface="Aptos" pitchFamily="34" charset="-122"/>
                <a:cs typeface="Aptos" pitchFamily="34" charset="-120"/>
              </a:rPr>
              <a:t>Tip: Do not just read the slide. Use the slide as proof, then explain the reasoning in your own words.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mnt/data/soil_render/slide-4.png">    </p:cNvPr>
          <p:cNvPicPr>
            <a:picLocks noChangeAspect="1"/>
          </p:cNvPicPr>
          <p:nvPr/>
        </p:nvPicPr>
        <p:blipFill>
          <a:blip r:embed="rId1"/>
          <a:stretch>
            <a:fillRect/>
          </a:stretch>
        </p:blipFill>
        <p:spPr>
          <a:xfrm>
            <a:off x="0" y="0"/>
            <a:ext cx="9144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7F4"/>
        </a:solidFill>
      </p:bgPr>
    </p:bg>
    <p:spTree>
      <p:nvGrpSpPr>
        <p:cNvPr id="1" name=""/>
        <p:cNvGrpSpPr/>
        <p:nvPr/>
      </p:nvGrpSpPr>
      <p:grpSpPr>
        <a:xfrm>
          <a:off x="0" y="0"/>
          <a:ext cx="0" cy="0"/>
          <a:chOff x="0" y="0"/>
          <a:chExt cx="0" cy="0"/>
        </a:xfrm>
      </p:grpSpPr>
      <p:sp>
        <p:nvSpPr>
          <p:cNvPr id="2" name="Text 0"/>
          <p:cNvSpPr/>
          <p:nvPr/>
        </p:nvSpPr>
        <p:spPr>
          <a:xfrm>
            <a:off x="411480" y="256032"/>
            <a:ext cx="5440680" cy="320040"/>
          </a:xfrm>
          <a:prstGeom prst="rect">
            <a:avLst/>
          </a:prstGeom>
          <a:noFill/>
          <a:ln/>
        </p:spPr>
        <p:txBody>
          <a:bodyPr wrap="square" lIns="0" tIns="0" rIns="0" bIns="0" rtlCol="0" anchor="ctr"/>
          <a:lstStyle/>
          <a:p>
            <a:pPr indent="0" marL="0">
              <a:buNone/>
            </a:pPr>
            <a:r>
              <a:rPr lang="en-US" sz="1100" b="1" dirty="0">
                <a:solidFill>
                  <a:srgbClr val="1F8A55"/>
                </a:solidFill>
                <a:latin typeface="Aptos" pitchFamily="34" charset="0"/>
                <a:ea typeface="Aptos" pitchFamily="34" charset="-122"/>
                <a:cs typeface="Aptos" pitchFamily="34" charset="-120"/>
              </a:rPr>
              <a:t>Slide 4 — Explanation</a:t>
            </a:r>
            <a:endParaRPr lang="en-US" sz="1100" dirty="0"/>
          </a:p>
        </p:txBody>
      </p:sp>
      <p:sp>
        <p:nvSpPr>
          <p:cNvPr id="3" name="Text 1"/>
          <p:cNvSpPr/>
          <p:nvPr/>
        </p:nvSpPr>
        <p:spPr>
          <a:xfrm>
            <a:off x="411480" y="640080"/>
            <a:ext cx="5440680" cy="530352"/>
          </a:xfrm>
          <a:prstGeom prst="rect">
            <a:avLst/>
          </a:prstGeom>
          <a:noFill/>
          <a:ln/>
        </p:spPr>
        <p:txBody>
          <a:bodyPr wrap="square" lIns="0" tIns="0" rIns="0" bIns="0" rtlCol="0" anchor="ctr"/>
          <a:lstStyle/>
          <a:p>
            <a:pPr indent="0" marL="0">
              <a:buNone/>
            </a:pPr>
            <a:r>
              <a:rPr lang="en-US" sz="2600" b="1" dirty="0">
                <a:solidFill>
                  <a:srgbClr val="143126"/>
                </a:solidFill>
                <a:latin typeface="Aptos Display" pitchFamily="34" charset="0"/>
                <a:ea typeface="Aptos Display" pitchFamily="34" charset="-122"/>
                <a:cs typeface="Aptos Display" pitchFamily="34" charset="-120"/>
              </a:rPr>
              <a:t>ML Lifecycle Applied to Soil</a:t>
            </a:r>
            <a:endParaRPr lang="en-US" sz="2600" dirty="0"/>
          </a:p>
        </p:txBody>
      </p:sp>
      <p:sp>
        <p:nvSpPr>
          <p:cNvPr id="4" name="Text 2"/>
          <p:cNvSpPr/>
          <p:nvPr/>
        </p:nvSpPr>
        <p:spPr>
          <a:xfrm>
            <a:off x="429768" y="1261872"/>
            <a:ext cx="5212080" cy="502920"/>
          </a:xfrm>
          <a:prstGeom prst="rect">
            <a:avLst/>
          </a:prstGeom>
          <a:noFill/>
          <a:ln/>
        </p:spPr>
        <p:txBody>
          <a:bodyPr wrap="square" lIns="254" tIns="254" rIns="254" bIns="254" rtlCol="0" anchor="ctr">
            <a:normAutofit/>
          </a:bodyPr>
          <a:lstStyle/>
          <a:p>
            <a:pPr indent="0" marL="0">
              <a:buNone/>
            </a:pPr>
            <a:r>
              <a:rPr lang="en-US" sz="1500" i="1" dirty="0">
                <a:solidFill>
                  <a:srgbClr val="5D6B63"/>
                </a:solidFill>
                <a:latin typeface="Aptos" pitchFamily="34" charset="0"/>
                <a:ea typeface="Aptos" pitchFamily="34" charset="-122"/>
                <a:cs typeface="Aptos" pitchFamily="34" charset="-120"/>
              </a:rPr>
              <a:t>This slide shows how the notebook work becomes a usable prediction system.</a:t>
            </a:r>
            <a:endParaRPr lang="en-US" sz="1500" dirty="0"/>
          </a:p>
        </p:txBody>
      </p:sp>
      <p:sp>
        <p:nvSpPr>
          <p:cNvPr id="5" name="Text 3"/>
          <p:cNvSpPr/>
          <p:nvPr/>
        </p:nvSpPr>
        <p:spPr>
          <a:xfrm>
            <a:off x="502920" y="1920240"/>
            <a:ext cx="5120640" cy="2057400"/>
          </a:xfrm>
          <a:prstGeom prst="rect">
            <a:avLst/>
          </a:prstGeom>
          <a:noFill/>
          <a:ln/>
        </p:spPr>
        <p:txBody>
          <a:bodyPr wrap="square" lIns="381" tIns="381" rIns="381" bIns="381" rtlCol="0" anchor="t">
            <a:normAutofit/>
          </a:bodyPr>
          <a:lstStyle/>
          <a:p>
            <a:pPr indent="0" marL="0">
              <a:buNone/>
            </a:pPr>
            <a:r>
              <a:rPr lang="en-US" sz="1700" dirty="0">
                <a:solidFill>
                  <a:srgbClr val="143126"/>
                </a:solidFill>
                <a:latin typeface="Aptos" pitchFamily="34" charset="0"/>
                <a:ea typeface="Aptos" pitchFamily="34" charset="-122"/>
                <a:cs typeface="Aptos" pitchFamily="34" charset="-120"/>
              </a:rPr>
              <a:t>• Raw data starts as dataset1.csv, then EDA produces plots and statistics.</a:t>
            </a:r>
            <a:endParaRPr lang="en-US" sz="1700" dirty="0"/>
          </a:p>
          <a:p>
            <a:pPr indent="0" marL="0">
              <a:buNone/>
            </a:pPr>
            <a:r>
              <a:rPr lang="en-US" sz="1700" dirty="0">
                <a:solidFill>
                  <a:srgbClr val="143126"/>
                </a:solidFill>
                <a:latin typeface="Aptos" pitchFamily="34" charset="0"/>
                <a:ea typeface="Aptos" pitchFamily="34" charset="-122"/>
                <a:cs typeface="Aptos" pitchFamily="34" charset="-120"/>
              </a:rPr>
              <a:t>• Training builds two models: Decision Tree and Random Forest.</a:t>
            </a:r>
            <a:endParaRPr lang="en-US" sz="1700" dirty="0"/>
          </a:p>
          <a:p>
            <a:pPr indent="0" marL="0">
              <a:buNone/>
            </a:pPr>
            <a:r>
              <a:rPr lang="en-US" sz="1700" dirty="0">
                <a:solidFill>
                  <a:srgbClr val="143126"/>
                </a:solidFill>
                <a:latin typeface="Aptos" pitchFamily="34" charset="0"/>
                <a:ea typeface="Aptos" pitchFamily="34" charset="-122"/>
                <a:cs typeface="Aptos" pitchFamily="34" charset="-120"/>
              </a:rPr>
              <a:t>• Flask connects backend routes, HTML/CSS pages and the final user-facing prediction.</a:t>
            </a:r>
            <a:endParaRPr lang="en-US" sz="1700" dirty="0"/>
          </a:p>
        </p:txBody>
      </p:sp>
      <p:sp>
        <p:nvSpPr>
          <p:cNvPr id="6" name="Text 4"/>
          <p:cNvSpPr/>
          <p:nvPr/>
        </p:nvSpPr>
        <p:spPr>
          <a:xfrm>
            <a:off x="502920" y="4279392"/>
            <a:ext cx="5212080" cy="274320"/>
          </a:xfrm>
          <a:prstGeom prst="rect">
            <a:avLst/>
          </a:prstGeom>
          <a:noFill/>
          <a:ln/>
        </p:spPr>
        <p:txBody>
          <a:bodyPr wrap="square" lIns="0" tIns="0" rIns="0" bIns="0" rtlCol="0" anchor="ctr"/>
          <a:lstStyle/>
          <a:p>
            <a:pPr indent="0" marL="0">
              <a:buNone/>
            </a:pPr>
            <a:r>
              <a:rPr lang="en-US" sz="1200" b="1" dirty="0">
                <a:solidFill>
                  <a:srgbClr val="F05A28"/>
                </a:solidFill>
                <a:latin typeface="Aptos" pitchFamily="34" charset="0"/>
                <a:ea typeface="Aptos" pitchFamily="34" charset="-122"/>
                <a:cs typeface="Aptos" pitchFamily="34" charset="-120"/>
              </a:rPr>
              <a:t>Say this in viva / presentation</a:t>
            </a:r>
            <a:endParaRPr lang="en-US" sz="1200" dirty="0"/>
          </a:p>
        </p:txBody>
      </p:sp>
      <p:sp>
        <p:nvSpPr>
          <p:cNvPr id="7" name="Text 5"/>
          <p:cNvSpPr/>
          <p:nvPr/>
        </p:nvSpPr>
        <p:spPr>
          <a:xfrm>
            <a:off x="502920" y="4608576"/>
            <a:ext cx="5257800" cy="960120"/>
          </a:xfrm>
          <a:prstGeom prst="rect">
            <a:avLst/>
          </a:prstGeom>
          <a:solidFill>
            <a:srgbClr val="FFFFFF"/>
          </a:solidFill>
          <a:ln w="12700">
            <a:solidFill>
              <a:srgbClr val="D8E5DA"/>
            </a:solidFill>
          </a:ln>
        </p:spPr>
        <p:txBody>
          <a:bodyPr wrap="square" lIns="762" tIns="762" rIns="762" bIns="762" rtlCol="0" anchor="ctr">
            <a:normAutofit/>
          </a:bodyPr>
          <a:lstStyle/>
          <a:p>
            <a:pPr indent="0" marL="0">
              <a:buNone/>
            </a:pPr>
            <a:r>
              <a:rPr lang="en-US" sz="1700" b="1" dirty="0">
                <a:solidFill>
                  <a:srgbClr val="062B20"/>
                </a:solidFill>
                <a:latin typeface="Aptos" pitchFamily="34" charset="0"/>
                <a:ea typeface="Aptos" pitchFamily="34" charset="-122"/>
                <a:cs typeface="Aptos" pitchFamily="34" charset="-120"/>
              </a:rPr>
              <a:t>“I did not stop at analysis; I served the trained models through a small Flask application.”</a:t>
            </a:r>
            <a:endParaRPr lang="en-US" sz="1700" dirty="0"/>
          </a:p>
        </p:txBody>
      </p:sp>
      <p:sp>
        <p:nvSpPr>
          <p:cNvPr id="8" name="Text 6"/>
          <p:cNvSpPr/>
          <p:nvPr/>
        </p:nvSpPr>
        <p:spPr>
          <a:xfrm>
            <a:off x="5989320" y="777240"/>
            <a:ext cx="2743200" cy="228600"/>
          </a:xfrm>
          <a:prstGeom prst="rect">
            <a:avLst/>
          </a:prstGeom>
          <a:noFill/>
          <a:ln/>
        </p:spPr>
        <p:txBody>
          <a:bodyPr wrap="square" lIns="0" tIns="0" rIns="0" bIns="0" rtlCol="0" anchor="ctr"/>
          <a:lstStyle/>
          <a:p>
            <a:pPr indent="0" marL="0">
              <a:buNone/>
            </a:pPr>
            <a:r>
              <a:rPr lang="en-US" sz="1000" b="1" dirty="0">
                <a:solidFill>
                  <a:srgbClr val="5D6B63"/>
                </a:solidFill>
                <a:latin typeface="Aptos" pitchFamily="34" charset="0"/>
                <a:ea typeface="Aptos" pitchFamily="34" charset="-122"/>
                <a:cs typeface="Aptos" pitchFamily="34" charset="-120"/>
              </a:rPr>
              <a:t>Reference slide kept unchanged</a:t>
            </a:r>
            <a:endParaRPr lang="en-US" sz="1000" dirty="0"/>
          </a:p>
        </p:txBody>
      </p:sp>
      <p:pic>
        <p:nvPicPr>
          <p:cNvPr id="9" name="Image 0" descr="/mnt/data/soil_render/slide-4.png">    </p:cNvPr>
          <p:cNvPicPr>
            <a:picLocks noChangeAspect="1"/>
          </p:cNvPicPr>
          <p:nvPr/>
        </p:nvPicPr>
        <p:blipFill>
          <a:blip r:embed="rId1"/>
          <a:stretch>
            <a:fillRect/>
          </a:stretch>
        </p:blipFill>
        <p:spPr>
          <a:xfrm>
            <a:off x="5989320" y="1078992"/>
            <a:ext cx="2743200" cy="2057400"/>
          </a:xfrm>
          <a:prstGeom prst="rect">
            <a:avLst/>
          </a:prstGeom>
        </p:spPr>
      </p:pic>
      <p:sp>
        <p:nvSpPr>
          <p:cNvPr id="10" name="Text 7"/>
          <p:cNvSpPr/>
          <p:nvPr/>
        </p:nvSpPr>
        <p:spPr>
          <a:xfrm>
            <a:off x="5989320" y="3474720"/>
            <a:ext cx="2743200" cy="256032"/>
          </a:xfrm>
          <a:prstGeom prst="rect">
            <a:avLst/>
          </a:prstGeom>
          <a:noFill/>
          <a:ln/>
        </p:spPr>
        <p:txBody>
          <a:bodyPr wrap="square" lIns="0" tIns="0" rIns="0" bIns="0" rtlCol="0" anchor="ctr"/>
          <a:lstStyle/>
          <a:p>
            <a:pPr indent="0" marL="0">
              <a:buNone/>
            </a:pPr>
            <a:r>
              <a:rPr lang="en-US" sz="1200" b="1" dirty="0">
                <a:solidFill>
                  <a:srgbClr val="1F8A55"/>
                </a:solidFill>
                <a:latin typeface="Aptos" pitchFamily="34" charset="0"/>
                <a:ea typeface="Aptos" pitchFamily="34" charset="-122"/>
                <a:cs typeface="Aptos" pitchFamily="34" charset="-120"/>
              </a:rPr>
              <a:t>Quick structure to speak</a:t>
            </a:r>
            <a:endParaRPr lang="en-US" sz="1200" dirty="0"/>
          </a:p>
        </p:txBody>
      </p:sp>
      <p:sp>
        <p:nvSpPr>
          <p:cNvPr id="11" name="Text 8"/>
          <p:cNvSpPr/>
          <p:nvPr/>
        </p:nvSpPr>
        <p:spPr>
          <a:xfrm>
            <a:off x="5989320" y="3822192"/>
            <a:ext cx="2743200" cy="1143000"/>
          </a:xfrm>
          <a:prstGeom prst="rect">
            <a:avLst/>
          </a:prstGeom>
          <a:noFill/>
          <a:ln/>
        </p:spPr>
        <p:txBody>
          <a:bodyPr wrap="square" lIns="508" tIns="508" rIns="508" bIns="508" rtlCol="0" anchor="t">
            <a:normAutofit/>
          </a:bodyPr>
          <a:lstStyle/>
          <a:p>
            <a:pPr indent="0" marL="0">
              <a:buNone/>
            </a:pPr>
            <a:r>
              <a:rPr lang="en-US" sz="1500" dirty="0">
                <a:solidFill>
                  <a:srgbClr val="143126"/>
                </a:solidFill>
                <a:latin typeface="Aptos" pitchFamily="34" charset="0"/>
                <a:ea typeface="Aptos" pitchFamily="34" charset="-122"/>
                <a:cs typeface="Aptos" pitchFamily="34" charset="-120"/>
              </a:rPr>
              <a:t>1. State the purpose</a:t>
            </a:r>
            <a:endParaRPr lang="en-US" sz="1500" dirty="0"/>
          </a:p>
          <a:p>
            <a:pPr indent="0" marL="0">
              <a:buNone/>
            </a:pPr>
            <a:r>
              <a:rPr lang="en-US" sz="1500" dirty="0">
                <a:solidFill>
                  <a:srgbClr val="143126"/>
                </a:solidFill>
                <a:latin typeface="Aptos" pitchFamily="34" charset="0"/>
                <a:ea typeface="Aptos" pitchFamily="34" charset="-122"/>
                <a:cs typeface="Aptos" pitchFamily="34" charset="-120"/>
              </a:rPr>
              <a:t>2. Explain the method</a:t>
            </a:r>
            <a:endParaRPr lang="en-US" sz="1500" dirty="0"/>
          </a:p>
          <a:p>
            <a:pPr indent="0" marL="0">
              <a:buNone/>
            </a:pPr>
            <a:r>
              <a:rPr lang="en-US" sz="1500" dirty="0">
                <a:solidFill>
                  <a:srgbClr val="143126"/>
                </a:solidFill>
                <a:latin typeface="Aptos" pitchFamily="34" charset="0"/>
                <a:ea typeface="Aptos" pitchFamily="34" charset="-122"/>
                <a:cs typeface="Aptos" pitchFamily="34" charset="-120"/>
              </a:rPr>
              <a:t>3. Justify why it fits</a:t>
            </a:r>
            <a:endParaRPr lang="en-US" sz="1500" dirty="0"/>
          </a:p>
          <a:p>
            <a:pPr indent="0" marL="0">
              <a:buNone/>
            </a:pPr>
            <a:r>
              <a:rPr lang="en-US" sz="1500" dirty="0">
                <a:solidFill>
                  <a:srgbClr val="143126"/>
                </a:solidFill>
                <a:latin typeface="Aptos" pitchFamily="34" charset="0"/>
                <a:ea typeface="Aptos" pitchFamily="34" charset="-122"/>
                <a:cs typeface="Aptos" pitchFamily="34" charset="-120"/>
              </a:rPr>
              <a:t>4. Mention the limitation</a:t>
            </a:r>
            <a:endParaRPr lang="en-US" sz="1500" dirty="0"/>
          </a:p>
        </p:txBody>
      </p:sp>
      <p:sp>
        <p:nvSpPr>
          <p:cNvPr id="12" name="Text 9"/>
          <p:cNvSpPr/>
          <p:nvPr/>
        </p:nvSpPr>
        <p:spPr>
          <a:xfrm>
            <a:off x="5989320" y="5285232"/>
            <a:ext cx="2743200" cy="822960"/>
          </a:xfrm>
          <a:prstGeom prst="rect">
            <a:avLst/>
          </a:prstGeom>
          <a:noFill/>
          <a:ln/>
        </p:spPr>
        <p:txBody>
          <a:bodyPr wrap="square" lIns="508" tIns="508" rIns="508" bIns="508" rtlCol="0" anchor="ctr">
            <a:normAutofit/>
          </a:bodyPr>
          <a:lstStyle/>
          <a:p>
            <a:pPr indent="0" marL="0">
              <a:buNone/>
            </a:pPr>
            <a:r>
              <a:rPr lang="en-US" sz="1300" i="1" dirty="0">
                <a:solidFill>
                  <a:srgbClr val="5D6B63"/>
                </a:solidFill>
                <a:latin typeface="Aptos" pitchFamily="34" charset="0"/>
                <a:ea typeface="Aptos" pitchFamily="34" charset="-122"/>
                <a:cs typeface="Aptos" pitchFamily="34" charset="-120"/>
              </a:rPr>
              <a:t>Tip: Do not just read the slide. Use the slide as proof, then explain the reasoning in your own words.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mnt/data/soil_render/slide-5.png">    </p:cNvPr>
          <p:cNvPicPr>
            <a:picLocks noChangeAspect="1"/>
          </p:cNvPicPr>
          <p:nvPr/>
        </p:nvPicPr>
        <p:blipFill>
          <a:blip r:embed="rId1"/>
          <a:stretch>
            <a:fillRect/>
          </a:stretch>
        </p:blipFill>
        <p:spPr>
          <a:xfrm>
            <a:off x="0" y="0"/>
            <a:ext cx="9144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7F4"/>
        </a:solidFill>
      </p:bgPr>
    </p:bg>
    <p:spTree>
      <p:nvGrpSpPr>
        <p:cNvPr id="1" name=""/>
        <p:cNvGrpSpPr/>
        <p:nvPr/>
      </p:nvGrpSpPr>
      <p:grpSpPr>
        <a:xfrm>
          <a:off x="0" y="0"/>
          <a:ext cx="0" cy="0"/>
          <a:chOff x="0" y="0"/>
          <a:chExt cx="0" cy="0"/>
        </a:xfrm>
      </p:grpSpPr>
      <p:sp>
        <p:nvSpPr>
          <p:cNvPr id="2" name="Text 0"/>
          <p:cNvSpPr/>
          <p:nvPr/>
        </p:nvSpPr>
        <p:spPr>
          <a:xfrm>
            <a:off x="411480" y="256032"/>
            <a:ext cx="5440680" cy="320040"/>
          </a:xfrm>
          <a:prstGeom prst="rect">
            <a:avLst/>
          </a:prstGeom>
          <a:noFill/>
          <a:ln/>
        </p:spPr>
        <p:txBody>
          <a:bodyPr wrap="square" lIns="0" tIns="0" rIns="0" bIns="0" rtlCol="0" anchor="ctr"/>
          <a:lstStyle/>
          <a:p>
            <a:pPr indent="0" marL="0">
              <a:buNone/>
            </a:pPr>
            <a:r>
              <a:rPr lang="en-US" sz="1100" b="1" dirty="0">
                <a:solidFill>
                  <a:srgbClr val="1F8A55"/>
                </a:solidFill>
                <a:latin typeface="Aptos" pitchFamily="34" charset="0"/>
                <a:ea typeface="Aptos" pitchFamily="34" charset="-122"/>
                <a:cs typeface="Aptos" pitchFamily="34" charset="-120"/>
              </a:rPr>
              <a:t>Slide 5 — Explanation</a:t>
            </a:r>
            <a:endParaRPr lang="en-US" sz="1100" dirty="0"/>
          </a:p>
        </p:txBody>
      </p:sp>
      <p:sp>
        <p:nvSpPr>
          <p:cNvPr id="3" name="Text 1"/>
          <p:cNvSpPr/>
          <p:nvPr/>
        </p:nvSpPr>
        <p:spPr>
          <a:xfrm>
            <a:off x="411480" y="640080"/>
            <a:ext cx="5440680" cy="530352"/>
          </a:xfrm>
          <a:prstGeom prst="rect">
            <a:avLst/>
          </a:prstGeom>
          <a:noFill/>
          <a:ln/>
        </p:spPr>
        <p:txBody>
          <a:bodyPr wrap="square" lIns="0" tIns="0" rIns="0" bIns="0" rtlCol="0" anchor="ctr"/>
          <a:lstStyle/>
          <a:p>
            <a:pPr indent="0" marL="0">
              <a:buNone/>
            </a:pPr>
            <a:r>
              <a:rPr lang="en-US" sz="2600" b="1" dirty="0">
                <a:solidFill>
                  <a:srgbClr val="143126"/>
                </a:solidFill>
                <a:latin typeface="Aptos Display" pitchFamily="34" charset="0"/>
                <a:ea typeface="Aptos Display" pitchFamily="34" charset="-122"/>
                <a:cs typeface="Aptos Display" pitchFamily="34" charset="-120"/>
              </a:rPr>
              <a:t>Decision Tree Explanation</a:t>
            </a:r>
            <a:endParaRPr lang="en-US" sz="2600" dirty="0"/>
          </a:p>
        </p:txBody>
      </p:sp>
      <p:sp>
        <p:nvSpPr>
          <p:cNvPr id="4" name="Text 2"/>
          <p:cNvSpPr/>
          <p:nvPr/>
        </p:nvSpPr>
        <p:spPr>
          <a:xfrm>
            <a:off x="429768" y="1261872"/>
            <a:ext cx="5212080" cy="502920"/>
          </a:xfrm>
          <a:prstGeom prst="rect">
            <a:avLst/>
          </a:prstGeom>
          <a:noFill/>
          <a:ln/>
        </p:spPr>
        <p:txBody>
          <a:bodyPr wrap="square" lIns="254" tIns="254" rIns="254" bIns="254" rtlCol="0" anchor="ctr">
            <a:normAutofit/>
          </a:bodyPr>
          <a:lstStyle/>
          <a:p>
            <a:pPr indent="0" marL="0">
              <a:buNone/>
            </a:pPr>
            <a:r>
              <a:rPr lang="en-US" sz="1500" i="1" dirty="0">
                <a:solidFill>
                  <a:srgbClr val="5D6B63"/>
                </a:solidFill>
                <a:latin typeface="Aptos" pitchFamily="34" charset="0"/>
                <a:ea typeface="Aptos" pitchFamily="34" charset="-122"/>
                <a:cs typeface="Aptos" pitchFamily="34" charset="-120"/>
              </a:rPr>
              <a:t>A Decision Tree is useful because every prediction can be read like if–else rules.</a:t>
            </a:r>
            <a:endParaRPr lang="en-US" sz="1500" dirty="0"/>
          </a:p>
        </p:txBody>
      </p:sp>
      <p:sp>
        <p:nvSpPr>
          <p:cNvPr id="5" name="Text 3"/>
          <p:cNvSpPr/>
          <p:nvPr/>
        </p:nvSpPr>
        <p:spPr>
          <a:xfrm>
            <a:off x="502920" y="1920240"/>
            <a:ext cx="5120640" cy="2057400"/>
          </a:xfrm>
          <a:prstGeom prst="rect">
            <a:avLst/>
          </a:prstGeom>
          <a:noFill/>
          <a:ln/>
        </p:spPr>
        <p:txBody>
          <a:bodyPr wrap="square" lIns="381" tIns="381" rIns="381" bIns="381" rtlCol="0" anchor="t">
            <a:normAutofit/>
          </a:bodyPr>
          <a:lstStyle/>
          <a:p>
            <a:pPr indent="0" marL="0">
              <a:buNone/>
            </a:pPr>
            <a:r>
              <a:rPr lang="en-US" sz="1700" dirty="0">
                <a:solidFill>
                  <a:srgbClr val="143126"/>
                </a:solidFill>
                <a:latin typeface="Aptos" pitchFamily="34" charset="0"/>
                <a:ea typeface="Aptos" pitchFamily="34" charset="-122"/>
                <a:cs typeface="Aptos" pitchFamily="34" charset="-120"/>
              </a:rPr>
              <a:t>• At each node, the tree chooses the feature threshold that best separates classes.</a:t>
            </a:r>
            <a:endParaRPr lang="en-US" sz="1700" dirty="0"/>
          </a:p>
          <a:p>
            <a:pPr indent="0" marL="0">
              <a:buNone/>
            </a:pPr>
            <a:r>
              <a:rPr lang="en-US" sz="1700" dirty="0">
                <a:solidFill>
                  <a:srgbClr val="143126"/>
                </a:solidFill>
                <a:latin typeface="Aptos" pitchFamily="34" charset="0"/>
                <a:ea typeface="Aptos" pitchFamily="34" charset="-122"/>
                <a:cs typeface="Aptos" pitchFamily="34" charset="-120"/>
              </a:rPr>
              <a:t>• A sample follows a path through the tree until it reaches a leaf node prediction.</a:t>
            </a:r>
            <a:endParaRPr lang="en-US" sz="1700" dirty="0"/>
          </a:p>
          <a:p>
            <a:pPr indent="0" marL="0">
              <a:buNone/>
            </a:pPr>
            <a:r>
              <a:rPr lang="en-US" sz="1700" dirty="0">
                <a:solidFill>
                  <a:srgbClr val="143126"/>
                </a:solidFill>
                <a:latin typeface="Aptos" pitchFamily="34" charset="0"/>
                <a:ea typeface="Aptos" pitchFamily="34" charset="-122"/>
                <a:cs typeface="Aptos" pitchFamily="34" charset="-120"/>
              </a:rPr>
              <a:t>• max_depth=6 controls overfitting; class_weight=balanced gives more importance to minority class errors.</a:t>
            </a:r>
            <a:endParaRPr lang="en-US" sz="1700" dirty="0"/>
          </a:p>
        </p:txBody>
      </p:sp>
      <p:sp>
        <p:nvSpPr>
          <p:cNvPr id="6" name="Text 4"/>
          <p:cNvSpPr/>
          <p:nvPr/>
        </p:nvSpPr>
        <p:spPr>
          <a:xfrm>
            <a:off x="502920" y="4279392"/>
            <a:ext cx="5212080" cy="274320"/>
          </a:xfrm>
          <a:prstGeom prst="rect">
            <a:avLst/>
          </a:prstGeom>
          <a:noFill/>
          <a:ln/>
        </p:spPr>
        <p:txBody>
          <a:bodyPr wrap="square" lIns="0" tIns="0" rIns="0" bIns="0" rtlCol="0" anchor="ctr"/>
          <a:lstStyle/>
          <a:p>
            <a:pPr indent="0" marL="0">
              <a:buNone/>
            </a:pPr>
            <a:r>
              <a:rPr lang="en-US" sz="1200" b="1" dirty="0">
                <a:solidFill>
                  <a:srgbClr val="F05A28"/>
                </a:solidFill>
                <a:latin typeface="Aptos" pitchFamily="34" charset="0"/>
                <a:ea typeface="Aptos" pitchFamily="34" charset="-122"/>
                <a:cs typeface="Aptos" pitchFamily="34" charset="-120"/>
              </a:rPr>
              <a:t>Say this in viva / presentation</a:t>
            </a:r>
            <a:endParaRPr lang="en-US" sz="1200" dirty="0"/>
          </a:p>
        </p:txBody>
      </p:sp>
      <p:sp>
        <p:nvSpPr>
          <p:cNvPr id="7" name="Text 5"/>
          <p:cNvSpPr/>
          <p:nvPr/>
        </p:nvSpPr>
        <p:spPr>
          <a:xfrm>
            <a:off x="502920" y="4608576"/>
            <a:ext cx="5257800" cy="960120"/>
          </a:xfrm>
          <a:prstGeom prst="rect">
            <a:avLst/>
          </a:prstGeom>
          <a:solidFill>
            <a:srgbClr val="FFFFFF"/>
          </a:solidFill>
          <a:ln w="12700">
            <a:solidFill>
              <a:srgbClr val="D8E5DA"/>
            </a:solidFill>
          </a:ln>
        </p:spPr>
        <p:txBody>
          <a:bodyPr wrap="square" lIns="762" tIns="762" rIns="762" bIns="762" rtlCol="0" anchor="ctr">
            <a:normAutofit/>
          </a:bodyPr>
          <a:lstStyle/>
          <a:p>
            <a:pPr indent="0" marL="0">
              <a:buNone/>
            </a:pPr>
            <a:r>
              <a:rPr lang="en-US" sz="1700" b="1" dirty="0">
                <a:solidFill>
                  <a:srgbClr val="062B20"/>
                </a:solidFill>
                <a:latin typeface="Aptos" pitchFamily="34" charset="0"/>
                <a:ea typeface="Aptos" pitchFamily="34" charset="-122"/>
                <a:cs typeface="Aptos" pitchFamily="34" charset="-120"/>
              </a:rPr>
              <a:t>“The Decision Tree is my interpretable baseline because each path is a readable rule sequence.”</a:t>
            </a:r>
            <a:endParaRPr lang="en-US" sz="1700" dirty="0"/>
          </a:p>
        </p:txBody>
      </p:sp>
      <p:sp>
        <p:nvSpPr>
          <p:cNvPr id="8" name="Text 6"/>
          <p:cNvSpPr/>
          <p:nvPr/>
        </p:nvSpPr>
        <p:spPr>
          <a:xfrm>
            <a:off x="5989320" y="777240"/>
            <a:ext cx="2743200" cy="228600"/>
          </a:xfrm>
          <a:prstGeom prst="rect">
            <a:avLst/>
          </a:prstGeom>
          <a:noFill/>
          <a:ln/>
        </p:spPr>
        <p:txBody>
          <a:bodyPr wrap="square" lIns="0" tIns="0" rIns="0" bIns="0" rtlCol="0" anchor="ctr"/>
          <a:lstStyle/>
          <a:p>
            <a:pPr indent="0" marL="0">
              <a:buNone/>
            </a:pPr>
            <a:r>
              <a:rPr lang="en-US" sz="1000" b="1" dirty="0">
                <a:solidFill>
                  <a:srgbClr val="5D6B63"/>
                </a:solidFill>
                <a:latin typeface="Aptos" pitchFamily="34" charset="0"/>
                <a:ea typeface="Aptos" pitchFamily="34" charset="-122"/>
                <a:cs typeface="Aptos" pitchFamily="34" charset="-120"/>
              </a:rPr>
              <a:t>Reference slide kept unchanged</a:t>
            </a:r>
            <a:endParaRPr lang="en-US" sz="1000" dirty="0"/>
          </a:p>
        </p:txBody>
      </p:sp>
      <p:pic>
        <p:nvPicPr>
          <p:cNvPr id="9" name="Image 0" descr="/mnt/data/soil_render/slide-5.png">    </p:cNvPr>
          <p:cNvPicPr>
            <a:picLocks noChangeAspect="1"/>
          </p:cNvPicPr>
          <p:nvPr/>
        </p:nvPicPr>
        <p:blipFill>
          <a:blip r:embed="rId1"/>
          <a:stretch>
            <a:fillRect/>
          </a:stretch>
        </p:blipFill>
        <p:spPr>
          <a:xfrm>
            <a:off x="5989320" y="1078992"/>
            <a:ext cx="2743200" cy="2057400"/>
          </a:xfrm>
          <a:prstGeom prst="rect">
            <a:avLst/>
          </a:prstGeom>
        </p:spPr>
      </p:pic>
      <p:sp>
        <p:nvSpPr>
          <p:cNvPr id="10" name="Text 7"/>
          <p:cNvSpPr/>
          <p:nvPr/>
        </p:nvSpPr>
        <p:spPr>
          <a:xfrm>
            <a:off x="5989320" y="3474720"/>
            <a:ext cx="2743200" cy="256032"/>
          </a:xfrm>
          <a:prstGeom prst="rect">
            <a:avLst/>
          </a:prstGeom>
          <a:noFill/>
          <a:ln/>
        </p:spPr>
        <p:txBody>
          <a:bodyPr wrap="square" lIns="0" tIns="0" rIns="0" bIns="0" rtlCol="0" anchor="ctr"/>
          <a:lstStyle/>
          <a:p>
            <a:pPr indent="0" marL="0">
              <a:buNone/>
            </a:pPr>
            <a:r>
              <a:rPr lang="en-US" sz="1200" b="1" dirty="0">
                <a:solidFill>
                  <a:srgbClr val="1F8A55"/>
                </a:solidFill>
                <a:latin typeface="Aptos" pitchFamily="34" charset="0"/>
                <a:ea typeface="Aptos" pitchFamily="34" charset="-122"/>
                <a:cs typeface="Aptos" pitchFamily="34" charset="-120"/>
              </a:rPr>
              <a:t>Quick structure to speak</a:t>
            </a:r>
            <a:endParaRPr lang="en-US" sz="1200" dirty="0"/>
          </a:p>
        </p:txBody>
      </p:sp>
      <p:sp>
        <p:nvSpPr>
          <p:cNvPr id="11" name="Text 8"/>
          <p:cNvSpPr/>
          <p:nvPr/>
        </p:nvSpPr>
        <p:spPr>
          <a:xfrm>
            <a:off x="5989320" y="3822192"/>
            <a:ext cx="2743200" cy="1143000"/>
          </a:xfrm>
          <a:prstGeom prst="rect">
            <a:avLst/>
          </a:prstGeom>
          <a:noFill/>
          <a:ln/>
        </p:spPr>
        <p:txBody>
          <a:bodyPr wrap="square" lIns="508" tIns="508" rIns="508" bIns="508" rtlCol="0" anchor="t">
            <a:normAutofit/>
          </a:bodyPr>
          <a:lstStyle/>
          <a:p>
            <a:pPr indent="0" marL="0">
              <a:buNone/>
            </a:pPr>
            <a:r>
              <a:rPr lang="en-US" sz="1500" dirty="0">
                <a:solidFill>
                  <a:srgbClr val="143126"/>
                </a:solidFill>
                <a:latin typeface="Aptos" pitchFamily="34" charset="0"/>
                <a:ea typeface="Aptos" pitchFamily="34" charset="-122"/>
                <a:cs typeface="Aptos" pitchFamily="34" charset="-120"/>
              </a:rPr>
              <a:t>1. State the purpose</a:t>
            </a:r>
            <a:endParaRPr lang="en-US" sz="1500" dirty="0"/>
          </a:p>
          <a:p>
            <a:pPr indent="0" marL="0">
              <a:buNone/>
            </a:pPr>
            <a:r>
              <a:rPr lang="en-US" sz="1500" dirty="0">
                <a:solidFill>
                  <a:srgbClr val="143126"/>
                </a:solidFill>
                <a:latin typeface="Aptos" pitchFamily="34" charset="0"/>
                <a:ea typeface="Aptos" pitchFamily="34" charset="-122"/>
                <a:cs typeface="Aptos" pitchFamily="34" charset="-120"/>
              </a:rPr>
              <a:t>2. Explain the method</a:t>
            </a:r>
            <a:endParaRPr lang="en-US" sz="1500" dirty="0"/>
          </a:p>
          <a:p>
            <a:pPr indent="0" marL="0">
              <a:buNone/>
            </a:pPr>
            <a:r>
              <a:rPr lang="en-US" sz="1500" dirty="0">
                <a:solidFill>
                  <a:srgbClr val="143126"/>
                </a:solidFill>
                <a:latin typeface="Aptos" pitchFamily="34" charset="0"/>
                <a:ea typeface="Aptos" pitchFamily="34" charset="-122"/>
                <a:cs typeface="Aptos" pitchFamily="34" charset="-120"/>
              </a:rPr>
              <a:t>3. Justify why it fits</a:t>
            </a:r>
            <a:endParaRPr lang="en-US" sz="1500" dirty="0"/>
          </a:p>
          <a:p>
            <a:pPr indent="0" marL="0">
              <a:buNone/>
            </a:pPr>
            <a:r>
              <a:rPr lang="en-US" sz="1500" dirty="0">
                <a:solidFill>
                  <a:srgbClr val="143126"/>
                </a:solidFill>
                <a:latin typeface="Aptos" pitchFamily="34" charset="0"/>
                <a:ea typeface="Aptos" pitchFamily="34" charset="-122"/>
                <a:cs typeface="Aptos" pitchFamily="34" charset="-120"/>
              </a:rPr>
              <a:t>4. Mention the limitation</a:t>
            </a:r>
            <a:endParaRPr lang="en-US" sz="1500" dirty="0"/>
          </a:p>
        </p:txBody>
      </p:sp>
      <p:sp>
        <p:nvSpPr>
          <p:cNvPr id="12" name="Text 9"/>
          <p:cNvSpPr/>
          <p:nvPr/>
        </p:nvSpPr>
        <p:spPr>
          <a:xfrm>
            <a:off x="5989320" y="5285232"/>
            <a:ext cx="2743200" cy="822960"/>
          </a:xfrm>
          <a:prstGeom prst="rect">
            <a:avLst/>
          </a:prstGeom>
          <a:noFill/>
          <a:ln/>
        </p:spPr>
        <p:txBody>
          <a:bodyPr wrap="square" lIns="508" tIns="508" rIns="508" bIns="508" rtlCol="0" anchor="ctr">
            <a:normAutofit/>
          </a:bodyPr>
          <a:lstStyle/>
          <a:p>
            <a:pPr indent="0" marL="0">
              <a:buNone/>
            </a:pPr>
            <a:r>
              <a:rPr lang="en-US" sz="1300" i="1" dirty="0">
                <a:solidFill>
                  <a:srgbClr val="5D6B63"/>
                </a:solidFill>
                <a:latin typeface="Aptos" pitchFamily="34" charset="0"/>
                <a:ea typeface="Aptos" pitchFamily="34" charset="-122"/>
                <a:cs typeface="Aptos" pitchFamily="34" charset="-120"/>
              </a:rPr>
              <a:t>Tip: Do not just read the slide. Use the slide as proof, then explain the reasoning in your own words.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mnt/data/soil_render/slide-6.png">    </p:cNvPr>
          <p:cNvPicPr>
            <a:picLocks noChangeAspect="1"/>
          </p:cNvPicPr>
          <p:nvPr/>
        </p:nvPicPr>
        <p:blipFill>
          <a:blip r:embed="rId1"/>
          <a:stretch>
            <a:fillRect/>
          </a:stretch>
        </p:blipFill>
        <p:spPr>
          <a:xfrm>
            <a:off x="0" y="0"/>
            <a:ext cx="9144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7F4"/>
        </a:solidFill>
      </p:bgPr>
    </p:bg>
    <p:spTree>
      <p:nvGrpSpPr>
        <p:cNvPr id="1" name=""/>
        <p:cNvGrpSpPr/>
        <p:nvPr/>
      </p:nvGrpSpPr>
      <p:grpSpPr>
        <a:xfrm>
          <a:off x="0" y="0"/>
          <a:ext cx="0" cy="0"/>
          <a:chOff x="0" y="0"/>
          <a:chExt cx="0" cy="0"/>
        </a:xfrm>
      </p:grpSpPr>
      <p:sp>
        <p:nvSpPr>
          <p:cNvPr id="2" name="Text 0"/>
          <p:cNvSpPr/>
          <p:nvPr/>
        </p:nvSpPr>
        <p:spPr>
          <a:xfrm>
            <a:off x="411480" y="256032"/>
            <a:ext cx="5440680" cy="320040"/>
          </a:xfrm>
          <a:prstGeom prst="rect">
            <a:avLst/>
          </a:prstGeom>
          <a:noFill/>
          <a:ln/>
        </p:spPr>
        <p:txBody>
          <a:bodyPr wrap="square" lIns="0" tIns="0" rIns="0" bIns="0" rtlCol="0" anchor="ctr"/>
          <a:lstStyle/>
          <a:p>
            <a:pPr indent="0" marL="0">
              <a:buNone/>
            </a:pPr>
            <a:r>
              <a:rPr lang="en-US" sz="1100" b="1" dirty="0">
                <a:solidFill>
                  <a:srgbClr val="1F8A55"/>
                </a:solidFill>
                <a:latin typeface="Aptos" pitchFamily="34" charset="0"/>
                <a:ea typeface="Aptos" pitchFamily="34" charset="-122"/>
                <a:cs typeface="Aptos" pitchFamily="34" charset="-120"/>
              </a:rPr>
              <a:t>Slide 6 — Explanation</a:t>
            </a:r>
            <a:endParaRPr lang="en-US" sz="1100" dirty="0"/>
          </a:p>
        </p:txBody>
      </p:sp>
      <p:sp>
        <p:nvSpPr>
          <p:cNvPr id="3" name="Text 1"/>
          <p:cNvSpPr/>
          <p:nvPr/>
        </p:nvSpPr>
        <p:spPr>
          <a:xfrm>
            <a:off x="411480" y="640080"/>
            <a:ext cx="5440680" cy="530352"/>
          </a:xfrm>
          <a:prstGeom prst="rect">
            <a:avLst/>
          </a:prstGeom>
          <a:noFill/>
          <a:ln/>
        </p:spPr>
        <p:txBody>
          <a:bodyPr wrap="square" lIns="0" tIns="0" rIns="0" bIns="0" rtlCol="0" anchor="ctr"/>
          <a:lstStyle/>
          <a:p>
            <a:pPr indent="0" marL="0">
              <a:buNone/>
            </a:pPr>
            <a:r>
              <a:rPr lang="en-US" sz="2600" b="1" dirty="0">
                <a:solidFill>
                  <a:srgbClr val="143126"/>
                </a:solidFill>
                <a:latin typeface="Aptos Display" pitchFamily="34" charset="0"/>
                <a:ea typeface="Aptos Display" pitchFamily="34" charset="-122"/>
                <a:cs typeface="Aptos Display" pitchFamily="34" charset="-120"/>
              </a:rPr>
              <a:t>Random Forest Explanation</a:t>
            </a:r>
            <a:endParaRPr lang="en-US" sz="2600" dirty="0"/>
          </a:p>
        </p:txBody>
      </p:sp>
      <p:sp>
        <p:nvSpPr>
          <p:cNvPr id="4" name="Text 2"/>
          <p:cNvSpPr/>
          <p:nvPr/>
        </p:nvSpPr>
        <p:spPr>
          <a:xfrm>
            <a:off x="429768" y="1261872"/>
            <a:ext cx="5212080" cy="502920"/>
          </a:xfrm>
          <a:prstGeom prst="rect">
            <a:avLst/>
          </a:prstGeom>
          <a:noFill/>
          <a:ln/>
        </p:spPr>
        <p:txBody>
          <a:bodyPr wrap="square" lIns="254" tIns="254" rIns="254" bIns="254" rtlCol="0" anchor="ctr">
            <a:normAutofit/>
          </a:bodyPr>
          <a:lstStyle/>
          <a:p>
            <a:pPr indent="0" marL="0">
              <a:buNone/>
            </a:pPr>
            <a:r>
              <a:rPr lang="en-US" sz="1500" i="1" dirty="0">
                <a:solidFill>
                  <a:srgbClr val="5D6B63"/>
                </a:solidFill>
                <a:latin typeface="Aptos" pitchFamily="34" charset="0"/>
                <a:ea typeface="Aptos" pitchFamily="34" charset="-122"/>
                <a:cs typeface="Aptos" pitchFamily="34" charset="-120"/>
              </a:rPr>
              <a:t>Random Forest improves stability by combining many different Decision Trees.</a:t>
            </a:r>
            <a:endParaRPr lang="en-US" sz="1500" dirty="0"/>
          </a:p>
        </p:txBody>
      </p:sp>
      <p:sp>
        <p:nvSpPr>
          <p:cNvPr id="5" name="Text 3"/>
          <p:cNvSpPr/>
          <p:nvPr/>
        </p:nvSpPr>
        <p:spPr>
          <a:xfrm>
            <a:off x="502920" y="1920240"/>
            <a:ext cx="5120640" cy="2057400"/>
          </a:xfrm>
          <a:prstGeom prst="rect">
            <a:avLst/>
          </a:prstGeom>
          <a:noFill/>
          <a:ln/>
        </p:spPr>
        <p:txBody>
          <a:bodyPr wrap="square" lIns="381" tIns="381" rIns="381" bIns="381" rtlCol="0" anchor="t">
            <a:normAutofit/>
          </a:bodyPr>
          <a:lstStyle/>
          <a:p>
            <a:pPr indent="0" marL="0">
              <a:buNone/>
            </a:pPr>
            <a:r>
              <a:rPr lang="en-US" sz="1700" dirty="0">
                <a:solidFill>
                  <a:srgbClr val="143126"/>
                </a:solidFill>
                <a:latin typeface="Aptos" pitchFamily="34" charset="0"/>
                <a:ea typeface="Aptos" pitchFamily="34" charset="-122"/>
                <a:cs typeface="Aptos" pitchFamily="34" charset="-120"/>
              </a:rPr>
              <a:t>• Bagging: each tree trains on a slightly different sample of the training data.</a:t>
            </a:r>
            <a:endParaRPr lang="en-US" sz="1700" dirty="0"/>
          </a:p>
          <a:p>
            <a:pPr indent="0" marL="0">
              <a:buNone/>
            </a:pPr>
            <a:r>
              <a:rPr lang="en-US" sz="1700" dirty="0">
                <a:solidFill>
                  <a:srgbClr val="143126"/>
                </a:solidFill>
                <a:latin typeface="Aptos" pitchFamily="34" charset="0"/>
                <a:ea typeface="Aptos" pitchFamily="34" charset="-122"/>
                <a:cs typeface="Aptos" pitchFamily="34" charset="-120"/>
              </a:rPr>
              <a:t>• Feature subsampling: different trees consider different soil parameters at splits.</a:t>
            </a:r>
            <a:endParaRPr lang="en-US" sz="1700" dirty="0"/>
          </a:p>
          <a:p>
            <a:pPr indent="0" marL="0">
              <a:buNone/>
            </a:pPr>
            <a:r>
              <a:rPr lang="en-US" sz="1700" dirty="0">
                <a:solidFill>
                  <a:srgbClr val="143126"/>
                </a:solidFill>
                <a:latin typeface="Aptos" pitchFamily="34" charset="0"/>
                <a:ea typeface="Aptos" pitchFamily="34" charset="-122"/>
                <a:cs typeface="Aptos" pitchFamily="34" charset="-120"/>
              </a:rPr>
              <a:t>• Majority vote: the final class is selected from the combined tree votes.</a:t>
            </a:r>
            <a:endParaRPr lang="en-US" sz="1700" dirty="0"/>
          </a:p>
        </p:txBody>
      </p:sp>
      <p:sp>
        <p:nvSpPr>
          <p:cNvPr id="6" name="Text 4"/>
          <p:cNvSpPr/>
          <p:nvPr/>
        </p:nvSpPr>
        <p:spPr>
          <a:xfrm>
            <a:off x="502920" y="4279392"/>
            <a:ext cx="5212080" cy="274320"/>
          </a:xfrm>
          <a:prstGeom prst="rect">
            <a:avLst/>
          </a:prstGeom>
          <a:noFill/>
          <a:ln/>
        </p:spPr>
        <p:txBody>
          <a:bodyPr wrap="square" lIns="0" tIns="0" rIns="0" bIns="0" rtlCol="0" anchor="ctr"/>
          <a:lstStyle/>
          <a:p>
            <a:pPr indent="0" marL="0">
              <a:buNone/>
            </a:pPr>
            <a:r>
              <a:rPr lang="en-US" sz="1200" b="1" dirty="0">
                <a:solidFill>
                  <a:srgbClr val="F05A28"/>
                </a:solidFill>
                <a:latin typeface="Aptos" pitchFamily="34" charset="0"/>
                <a:ea typeface="Aptos" pitchFamily="34" charset="-122"/>
                <a:cs typeface="Aptos" pitchFamily="34" charset="-120"/>
              </a:rPr>
              <a:t>Say this in viva / presentation</a:t>
            </a:r>
            <a:endParaRPr lang="en-US" sz="1200" dirty="0"/>
          </a:p>
        </p:txBody>
      </p:sp>
      <p:sp>
        <p:nvSpPr>
          <p:cNvPr id="7" name="Text 5"/>
          <p:cNvSpPr/>
          <p:nvPr/>
        </p:nvSpPr>
        <p:spPr>
          <a:xfrm>
            <a:off x="502920" y="4608576"/>
            <a:ext cx="5257800" cy="960120"/>
          </a:xfrm>
          <a:prstGeom prst="rect">
            <a:avLst/>
          </a:prstGeom>
          <a:solidFill>
            <a:srgbClr val="FFFFFF"/>
          </a:solidFill>
          <a:ln w="12700">
            <a:solidFill>
              <a:srgbClr val="D8E5DA"/>
            </a:solidFill>
          </a:ln>
        </p:spPr>
        <p:txBody>
          <a:bodyPr wrap="square" lIns="762" tIns="762" rIns="762" bIns="762" rtlCol="0" anchor="ctr">
            <a:normAutofit/>
          </a:bodyPr>
          <a:lstStyle/>
          <a:p>
            <a:pPr indent="0" marL="0">
              <a:buNone/>
            </a:pPr>
            <a:r>
              <a:rPr lang="en-US" sz="1700" b="1" dirty="0">
                <a:solidFill>
                  <a:srgbClr val="062B20"/>
                </a:solidFill>
                <a:latin typeface="Aptos" pitchFamily="34" charset="0"/>
                <a:ea typeface="Aptos" pitchFamily="34" charset="-122"/>
                <a:cs typeface="Aptos" pitchFamily="34" charset="-120"/>
              </a:rPr>
              <a:t>“Random Forest reduces variance, so it is usually more stable than one Decision Tree.”</a:t>
            </a:r>
            <a:endParaRPr lang="en-US" sz="1700" dirty="0"/>
          </a:p>
        </p:txBody>
      </p:sp>
      <p:sp>
        <p:nvSpPr>
          <p:cNvPr id="8" name="Text 6"/>
          <p:cNvSpPr/>
          <p:nvPr/>
        </p:nvSpPr>
        <p:spPr>
          <a:xfrm>
            <a:off x="5989320" y="777240"/>
            <a:ext cx="2743200" cy="228600"/>
          </a:xfrm>
          <a:prstGeom prst="rect">
            <a:avLst/>
          </a:prstGeom>
          <a:noFill/>
          <a:ln/>
        </p:spPr>
        <p:txBody>
          <a:bodyPr wrap="square" lIns="0" tIns="0" rIns="0" bIns="0" rtlCol="0" anchor="ctr"/>
          <a:lstStyle/>
          <a:p>
            <a:pPr indent="0" marL="0">
              <a:buNone/>
            </a:pPr>
            <a:r>
              <a:rPr lang="en-US" sz="1000" b="1" dirty="0">
                <a:solidFill>
                  <a:srgbClr val="5D6B63"/>
                </a:solidFill>
                <a:latin typeface="Aptos" pitchFamily="34" charset="0"/>
                <a:ea typeface="Aptos" pitchFamily="34" charset="-122"/>
                <a:cs typeface="Aptos" pitchFamily="34" charset="-120"/>
              </a:rPr>
              <a:t>Reference slide kept unchanged</a:t>
            </a:r>
            <a:endParaRPr lang="en-US" sz="1000" dirty="0"/>
          </a:p>
        </p:txBody>
      </p:sp>
      <p:pic>
        <p:nvPicPr>
          <p:cNvPr id="9" name="Image 0" descr="/mnt/data/soil_render/slide-6.png">    </p:cNvPr>
          <p:cNvPicPr>
            <a:picLocks noChangeAspect="1"/>
          </p:cNvPicPr>
          <p:nvPr/>
        </p:nvPicPr>
        <p:blipFill>
          <a:blip r:embed="rId1"/>
          <a:stretch>
            <a:fillRect/>
          </a:stretch>
        </p:blipFill>
        <p:spPr>
          <a:xfrm>
            <a:off x="5989320" y="1078992"/>
            <a:ext cx="2743200" cy="2057400"/>
          </a:xfrm>
          <a:prstGeom prst="rect">
            <a:avLst/>
          </a:prstGeom>
        </p:spPr>
      </p:pic>
      <p:sp>
        <p:nvSpPr>
          <p:cNvPr id="10" name="Text 7"/>
          <p:cNvSpPr/>
          <p:nvPr/>
        </p:nvSpPr>
        <p:spPr>
          <a:xfrm>
            <a:off x="5989320" y="3474720"/>
            <a:ext cx="2743200" cy="256032"/>
          </a:xfrm>
          <a:prstGeom prst="rect">
            <a:avLst/>
          </a:prstGeom>
          <a:noFill/>
          <a:ln/>
        </p:spPr>
        <p:txBody>
          <a:bodyPr wrap="square" lIns="0" tIns="0" rIns="0" bIns="0" rtlCol="0" anchor="ctr"/>
          <a:lstStyle/>
          <a:p>
            <a:pPr indent="0" marL="0">
              <a:buNone/>
            </a:pPr>
            <a:r>
              <a:rPr lang="en-US" sz="1200" b="1" dirty="0">
                <a:solidFill>
                  <a:srgbClr val="1F8A55"/>
                </a:solidFill>
                <a:latin typeface="Aptos" pitchFamily="34" charset="0"/>
                <a:ea typeface="Aptos" pitchFamily="34" charset="-122"/>
                <a:cs typeface="Aptos" pitchFamily="34" charset="-120"/>
              </a:rPr>
              <a:t>Quick structure to speak</a:t>
            </a:r>
            <a:endParaRPr lang="en-US" sz="1200" dirty="0"/>
          </a:p>
        </p:txBody>
      </p:sp>
      <p:sp>
        <p:nvSpPr>
          <p:cNvPr id="11" name="Text 8"/>
          <p:cNvSpPr/>
          <p:nvPr/>
        </p:nvSpPr>
        <p:spPr>
          <a:xfrm>
            <a:off x="5989320" y="3822192"/>
            <a:ext cx="2743200" cy="1143000"/>
          </a:xfrm>
          <a:prstGeom prst="rect">
            <a:avLst/>
          </a:prstGeom>
          <a:noFill/>
          <a:ln/>
        </p:spPr>
        <p:txBody>
          <a:bodyPr wrap="square" lIns="508" tIns="508" rIns="508" bIns="508" rtlCol="0" anchor="t">
            <a:normAutofit/>
          </a:bodyPr>
          <a:lstStyle/>
          <a:p>
            <a:pPr indent="0" marL="0">
              <a:buNone/>
            </a:pPr>
            <a:r>
              <a:rPr lang="en-US" sz="1500" dirty="0">
                <a:solidFill>
                  <a:srgbClr val="143126"/>
                </a:solidFill>
                <a:latin typeface="Aptos" pitchFamily="34" charset="0"/>
                <a:ea typeface="Aptos" pitchFamily="34" charset="-122"/>
                <a:cs typeface="Aptos" pitchFamily="34" charset="-120"/>
              </a:rPr>
              <a:t>1. State the purpose</a:t>
            </a:r>
            <a:endParaRPr lang="en-US" sz="1500" dirty="0"/>
          </a:p>
          <a:p>
            <a:pPr indent="0" marL="0">
              <a:buNone/>
            </a:pPr>
            <a:r>
              <a:rPr lang="en-US" sz="1500" dirty="0">
                <a:solidFill>
                  <a:srgbClr val="143126"/>
                </a:solidFill>
                <a:latin typeface="Aptos" pitchFamily="34" charset="0"/>
                <a:ea typeface="Aptos" pitchFamily="34" charset="-122"/>
                <a:cs typeface="Aptos" pitchFamily="34" charset="-120"/>
              </a:rPr>
              <a:t>2. Explain the method</a:t>
            </a:r>
            <a:endParaRPr lang="en-US" sz="1500" dirty="0"/>
          </a:p>
          <a:p>
            <a:pPr indent="0" marL="0">
              <a:buNone/>
            </a:pPr>
            <a:r>
              <a:rPr lang="en-US" sz="1500" dirty="0">
                <a:solidFill>
                  <a:srgbClr val="143126"/>
                </a:solidFill>
                <a:latin typeface="Aptos" pitchFamily="34" charset="0"/>
                <a:ea typeface="Aptos" pitchFamily="34" charset="-122"/>
                <a:cs typeface="Aptos" pitchFamily="34" charset="-120"/>
              </a:rPr>
              <a:t>3. Justify why it fits</a:t>
            </a:r>
            <a:endParaRPr lang="en-US" sz="1500" dirty="0"/>
          </a:p>
          <a:p>
            <a:pPr indent="0" marL="0">
              <a:buNone/>
            </a:pPr>
            <a:r>
              <a:rPr lang="en-US" sz="1500" dirty="0">
                <a:solidFill>
                  <a:srgbClr val="143126"/>
                </a:solidFill>
                <a:latin typeface="Aptos" pitchFamily="34" charset="0"/>
                <a:ea typeface="Aptos" pitchFamily="34" charset="-122"/>
                <a:cs typeface="Aptos" pitchFamily="34" charset="-120"/>
              </a:rPr>
              <a:t>4. Mention the limitation</a:t>
            </a:r>
            <a:endParaRPr lang="en-US" sz="1500" dirty="0"/>
          </a:p>
        </p:txBody>
      </p:sp>
      <p:sp>
        <p:nvSpPr>
          <p:cNvPr id="12" name="Text 9"/>
          <p:cNvSpPr/>
          <p:nvPr/>
        </p:nvSpPr>
        <p:spPr>
          <a:xfrm>
            <a:off x="5989320" y="5285232"/>
            <a:ext cx="2743200" cy="822960"/>
          </a:xfrm>
          <a:prstGeom prst="rect">
            <a:avLst/>
          </a:prstGeom>
          <a:noFill/>
          <a:ln/>
        </p:spPr>
        <p:txBody>
          <a:bodyPr wrap="square" lIns="508" tIns="508" rIns="508" bIns="508" rtlCol="0" anchor="ctr">
            <a:normAutofit/>
          </a:bodyPr>
          <a:lstStyle/>
          <a:p>
            <a:pPr indent="0" marL="0">
              <a:buNone/>
            </a:pPr>
            <a:r>
              <a:rPr lang="en-US" sz="1300" i="1" dirty="0">
                <a:solidFill>
                  <a:srgbClr val="5D6B63"/>
                </a:solidFill>
                <a:latin typeface="Aptos" pitchFamily="34" charset="0"/>
                <a:ea typeface="Aptos" pitchFamily="34" charset="-122"/>
                <a:cs typeface="Aptos" pitchFamily="34" charset="-120"/>
              </a:rPr>
              <a:t>Tip: Do not just read the slide. Use the slide as proof, then explain the reasoning in your own words.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mnt/data/soil_render/slide-7.png">    </p:cNvPr>
          <p:cNvPicPr>
            <a:picLocks noChangeAspect="1"/>
          </p:cNvPicPr>
          <p:nvPr/>
        </p:nvPicPr>
        <p:blipFill>
          <a:blip r:embed="rId1"/>
          <a:stretch>
            <a:fillRect/>
          </a:stretch>
        </p:blipFill>
        <p:spPr>
          <a:xfrm>
            <a:off x="0" y="0"/>
            <a:ext cx="9144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7F4"/>
        </a:solidFill>
      </p:bgPr>
    </p:bg>
    <p:spTree>
      <p:nvGrpSpPr>
        <p:cNvPr id="1" name=""/>
        <p:cNvGrpSpPr/>
        <p:nvPr/>
      </p:nvGrpSpPr>
      <p:grpSpPr>
        <a:xfrm>
          <a:off x="0" y="0"/>
          <a:ext cx="0" cy="0"/>
          <a:chOff x="0" y="0"/>
          <a:chExt cx="0" cy="0"/>
        </a:xfrm>
      </p:grpSpPr>
      <p:sp>
        <p:nvSpPr>
          <p:cNvPr id="2" name="Text 0"/>
          <p:cNvSpPr/>
          <p:nvPr/>
        </p:nvSpPr>
        <p:spPr>
          <a:xfrm>
            <a:off x="411480" y="256032"/>
            <a:ext cx="5440680" cy="320040"/>
          </a:xfrm>
          <a:prstGeom prst="rect">
            <a:avLst/>
          </a:prstGeom>
          <a:noFill/>
          <a:ln/>
        </p:spPr>
        <p:txBody>
          <a:bodyPr wrap="square" lIns="0" tIns="0" rIns="0" bIns="0" rtlCol="0" anchor="ctr"/>
          <a:lstStyle/>
          <a:p>
            <a:pPr indent="0" marL="0">
              <a:buNone/>
            </a:pPr>
            <a:r>
              <a:rPr lang="en-US" sz="1100" b="1" dirty="0">
                <a:solidFill>
                  <a:srgbClr val="1F8A55"/>
                </a:solidFill>
                <a:latin typeface="Aptos" pitchFamily="34" charset="0"/>
                <a:ea typeface="Aptos" pitchFamily="34" charset="-122"/>
                <a:cs typeface="Aptos" pitchFamily="34" charset="-120"/>
              </a:rPr>
              <a:t>Slide 7 — Explanation</a:t>
            </a:r>
            <a:endParaRPr lang="en-US" sz="1100" dirty="0"/>
          </a:p>
        </p:txBody>
      </p:sp>
      <p:sp>
        <p:nvSpPr>
          <p:cNvPr id="3" name="Text 1"/>
          <p:cNvSpPr/>
          <p:nvPr/>
        </p:nvSpPr>
        <p:spPr>
          <a:xfrm>
            <a:off x="411480" y="640080"/>
            <a:ext cx="5440680" cy="530352"/>
          </a:xfrm>
          <a:prstGeom prst="rect">
            <a:avLst/>
          </a:prstGeom>
          <a:noFill/>
          <a:ln/>
        </p:spPr>
        <p:txBody>
          <a:bodyPr wrap="square" lIns="0" tIns="0" rIns="0" bIns="0" rtlCol="0" anchor="ctr"/>
          <a:lstStyle/>
          <a:p>
            <a:pPr indent="0" marL="0">
              <a:buNone/>
            </a:pPr>
            <a:r>
              <a:rPr lang="en-US" sz="2600" b="1" dirty="0">
                <a:solidFill>
                  <a:srgbClr val="143126"/>
                </a:solidFill>
                <a:latin typeface="Aptos Display" pitchFamily="34" charset="0"/>
                <a:ea typeface="Aptos Display" pitchFamily="34" charset="-122"/>
                <a:cs typeface="Aptos Display" pitchFamily="34" charset="-120"/>
              </a:rPr>
              <a:t>Flask Architecture</a:t>
            </a:r>
            <a:endParaRPr lang="en-US" sz="2600" dirty="0"/>
          </a:p>
        </p:txBody>
      </p:sp>
      <p:sp>
        <p:nvSpPr>
          <p:cNvPr id="4" name="Text 2"/>
          <p:cNvSpPr/>
          <p:nvPr/>
        </p:nvSpPr>
        <p:spPr>
          <a:xfrm>
            <a:off x="429768" y="1261872"/>
            <a:ext cx="5212080" cy="502920"/>
          </a:xfrm>
          <a:prstGeom prst="rect">
            <a:avLst/>
          </a:prstGeom>
          <a:noFill/>
          <a:ln/>
        </p:spPr>
        <p:txBody>
          <a:bodyPr wrap="square" lIns="254" tIns="254" rIns="254" bIns="254" rtlCol="0" anchor="ctr">
            <a:normAutofit/>
          </a:bodyPr>
          <a:lstStyle/>
          <a:p>
            <a:pPr indent="0" marL="0">
              <a:buNone/>
            </a:pPr>
            <a:r>
              <a:rPr lang="en-US" sz="1500" i="1" dirty="0">
                <a:solidFill>
                  <a:srgbClr val="5D6B63"/>
                </a:solidFill>
                <a:latin typeface="Aptos" pitchFamily="34" charset="0"/>
                <a:ea typeface="Aptos" pitchFamily="34" charset="-122"/>
                <a:cs typeface="Aptos" pitchFamily="34" charset="-120"/>
              </a:rPr>
              <a:t>The app converts the ML model into an interactive web experience.</a:t>
            </a:r>
            <a:endParaRPr lang="en-US" sz="1500" dirty="0"/>
          </a:p>
        </p:txBody>
      </p:sp>
      <p:sp>
        <p:nvSpPr>
          <p:cNvPr id="5" name="Text 3"/>
          <p:cNvSpPr/>
          <p:nvPr/>
        </p:nvSpPr>
        <p:spPr>
          <a:xfrm>
            <a:off x="502920" y="1920240"/>
            <a:ext cx="5120640" cy="2057400"/>
          </a:xfrm>
          <a:prstGeom prst="rect">
            <a:avLst/>
          </a:prstGeom>
          <a:noFill/>
          <a:ln/>
        </p:spPr>
        <p:txBody>
          <a:bodyPr wrap="square" lIns="381" tIns="381" rIns="381" bIns="381" rtlCol="0" anchor="t">
            <a:normAutofit/>
          </a:bodyPr>
          <a:lstStyle/>
          <a:p>
            <a:pPr indent="0" marL="0">
              <a:buNone/>
            </a:pPr>
            <a:r>
              <a:rPr lang="en-US" sz="1700" dirty="0">
                <a:solidFill>
                  <a:srgbClr val="143126"/>
                </a:solidFill>
                <a:latin typeface="Aptos" pitchFamily="34" charset="0"/>
                <a:ea typeface="Aptos" pitchFamily="34" charset="-122"/>
                <a:cs typeface="Aptos" pitchFamily="34" charset="-120"/>
              </a:rPr>
              <a:t>• User enters the 12 soil values in the frontend form.</a:t>
            </a:r>
            <a:endParaRPr lang="en-US" sz="1700" dirty="0"/>
          </a:p>
          <a:p>
            <a:pPr indent="0" marL="0">
              <a:buNone/>
            </a:pPr>
            <a:r>
              <a:rPr lang="en-US" sz="1700" dirty="0">
                <a:solidFill>
                  <a:srgbClr val="143126"/>
                </a:solidFill>
                <a:latin typeface="Aptos" pitchFamily="34" charset="0"/>
                <a:ea typeface="Aptos" pitchFamily="34" charset="-122"/>
                <a:cs typeface="Aptos" pitchFamily="34" charset="-120"/>
              </a:rPr>
              <a:t>• Flask app.py receives the values and passes them to both trained classifiers.</a:t>
            </a:r>
            <a:endParaRPr lang="en-US" sz="1700" dirty="0"/>
          </a:p>
          <a:p>
            <a:pPr indent="0" marL="0">
              <a:buNone/>
            </a:pPr>
            <a:r>
              <a:rPr lang="en-US" sz="1700" dirty="0">
                <a:solidFill>
                  <a:srgbClr val="143126"/>
                </a:solidFill>
                <a:latin typeface="Aptos" pitchFamily="34" charset="0"/>
                <a:ea typeface="Aptos" pitchFamily="34" charset="-122"/>
                <a:cs typeface="Aptos" pitchFamily="34" charset="-120"/>
              </a:rPr>
              <a:t>• The Predict page displays two outputs: Decision Tree result and Random Forest result.</a:t>
            </a:r>
            <a:endParaRPr lang="en-US" sz="1700" dirty="0"/>
          </a:p>
        </p:txBody>
      </p:sp>
      <p:sp>
        <p:nvSpPr>
          <p:cNvPr id="6" name="Text 4"/>
          <p:cNvSpPr/>
          <p:nvPr/>
        </p:nvSpPr>
        <p:spPr>
          <a:xfrm>
            <a:off x="502920" y="4279392"/>
            <a:ext cx="5212080" cy="274320"/>
          </a:xfrm>
          <a:prstGeom prst="rect">
            <a:avLst/>
          </a:prstGeom>
          <a:noFill/>
          <a:ln/>
        </p:spPr>
        <p:txBody>
          <a:bodyPr wrap="square" lIns="0" tIns="0" rIns="0" bIns="0" rtlCol="0" anchor="ctr"/>
          <a:lstStyle/>
          <a:p>
            <a:pPr indent="0" marL="0">
              <a:buNone/>
            </a:pPr>
            <a:r>
              <a:rPr lang="en-US" sz="1200" b="1" dirty="0">
                <a:solidFill>
                  <a:srgbClr val="F05A28"/>
                </a:solidFill>
                <a:latin typeface="Aptos" pitchFamily="34" charset="0"/>
                <a:ea typeface="Aptos" pitchFamily="34" charset="-122"/>
                <a:cs typeface="Aptos" pitchFamily="34" charset="-120"/>
              </a:rPr>
              <a:t>Say this in viva / presentation</a:t>
            </a:r>
            <a:endParaRPr lang="en-US" sz="1200" dirty="0"/>
          </a:p>
        </p:txBody>
      </p:sp>
      <p:sp>
        <p:nvSpPr>
          <p:cNvPr id="7" name="Text 5"/>
          <p:cNvSpPr/>
          <p:nvPr/>
        </p:nvSpPr>
        <p:spPr>
          <a:xfrm>
            <a:off x="502920" y="4608576"/>
            <a:ext cx="5257800" cy="960120"/>
          </a:xfrm>
          <a:prstGeom prst="rect">
            <a:avLst/>
          </a:prstGeom>
          <a:solidFill>
            <a:srgbClr val="FFFFFF"/>
          </a:solidFill>
          <a:ln w="12700">
            <a:solidFill>
              <a:srgbClr val="D8E5DA"/>
            </a:solidFill>
          </a:ln>
        </p:spPr>
        <p:txBody>
          <a:bodyPr wrap="square" lIns="762" tIns="762" rIns="762" bIns="762" rtlCol="0" anchor="ctr">
            <a:normAutofit/>
          </a:bodyPr>
          <a:lstStyle/>
          <a:p>
            <a:pPr indent="0" marL="0">
              <a:buNone/>
            </a:pPr>
            <a:r>
              <a:rPr lang="en-US" sz="1700" b="1" dirty="0">
                <a:solidFill>
                  <a:srgbClr val="062B20"/>
                </a:solidFill>
                <a:latin typeface="Aptos" pitchFamily="34" charset="0"/>
                <a:ea typeface="Aptos" pitchFamily="34" charset="-122"/>
                <a:cs typeface="Aptos" pitchFamily="34" charset="-120"/>
              </a:rPr>
              <a:t>“This follows the lifecycle: trained model → served endpoint → user prediction.”</a:t>
            </a:r>
            <a:endParaRPr lang="en-US" sz="1700" dirty="0"/>
          </a:p>
        </p:txBody>
      </p:sp>
      <p:sp>
        <p:nvSpPr>
          <p:cNvPr id="8" name="Text 6"/>
          <p:cNvSpPr/>
          <p:nvPr/>
        </p:nvSpPr>
        <p:spPr>
          <a:xfrm>
            <a:off x="5989320" y="777240"/>
            <a:ext cx="2743200" cy="228600"/>
          </a:xfrm>
          <a:prstGeom prst="rect">
            <a:avLst/>
          </a:prstGeom>
          <a:noFill/>
          <a:ln/>
        </p:spPr>
        <p:txBody>
          <a:bodyPr wrap="square" lIns="0" tIns="0" rIns="0" bIns="0" rtlCol="0" anchor="ctr"/>
          <a:lstStyle/>
          <a:p>
            <a:pPr indent="0" marL="0">
              <a:buNone/>
            </a:pPr>
            <a:r>
              <a:rPr lang="en-US" sz="1000" b="1" dirty="0">
                <a:solidFill>
                  <a:srgbClr val="5D6B63"/>
                </a:solidFill>
                <a:latin typeface="Aptos" pitchFamily="34" charset="0"/>
                <a:ea typeface="Aptos" pitchFamily="34" charset="-122"/>
                <a:cs typeface="Aptos" pitchFamily="34" charset="-120"/>
              </a:rPr>
              <a:t>Reference slide kept unchanged</a:t>
            </a:r>
            <a:endParaRPr lang="en-US" sz="1000" dirty="0"/>
          </a:p>
        </p:txBody>
      </p:sp>
      <p:pic>
        <p:nvPicPr>
          <p:cNvPr id="9" name="Image 0" descr="/mnt/data/soil_render/slide-7.png">    </p:cNvPr>
          <p:cNvPicPr>
            <a:picLocks noChangeAspect="1"/>
          </p:cNvPicPr>
          <p:nvPr/>
        </p:nvPicPr>
        <p:blipFill>
          <a:blip r:embed="rId1"/>
          <a:stretch>
            <a:fillRect/>
          </a:stretch>
        </p:blipFill>
        <p:spPr>
          <a:xfrm>
            <a:off x="5989320" y="1078992"/>
            <a:ext cx="2743200" cy="2057400"/>
          </a:xfrm>
          <a:prstGeom prst="rect">
            <a:avLst/>
          </a:prstGeom>
        </p:spPr>
      </p:pic>
      <p:sp>
        <p:nvSpPr>
          <p:cNvPr id="10" name="Text 7"/>
          <p:cNvSpPr/>
          <p:nvPr/>
        </p:nvSpPr>
        <p:spPr>
          <a:xfrm>
            <a:off x="5989320" y="3474720"/>
            <a:ext cx="2743200" cy="256032"/>
          </a:xfrm>
          <a:prstGeom prst="rect">
            <a:avLst/>
          </a:prstGeom>
          <a:noFill/>
          <a:ln/>
        </p:spPr>
        <p:txBody>
          <a:bodyPr wrap="square" lIns="0" tIns="0" rIns="0" bIns="0" rtlCol="0" anchor="ctr"/>
          <a:lstStyle/>
          <a:p>
            <a:pPr indent="0" marL="0">
              <a:buNone/>
            </a:pPr>
            <a:r>
              <a:rPr lang="en-US" sz="1200" b="1" dirty="0">
                <a:solidFill>
                  <a:srgbClr val="1F8A55"/>
                </a:solidFill>
                <a:latin typeface="Aptos" pitchFamily="34" charset="0"/>
                <a:ea typeface="Aptos" pitchFamily="34" charset="-122"/>
                <a:cs typeface="Aptos" pitchFamily="34" charset="-120"/>
              </a:rPr>
              <a:t>Quick structure to speak</a:t>
            </a:r>
            <a:endParaRPr lang="en-US" sz="1200" dirty="0"/>
          </a:p>
        </p:txBody>
      </p:sp>
      <p:sp>
        <p:nvSpPr>
          <p:cNvPr id="11" name="Text 8"/>
          <p:cNvSpPr/>
          <p:nvPr/>
        </p:nvSpPr>
        <p:spPr>
          <a:xfrm>
            <a:off x="5989320" y="3822192"/>
            <a:ext cx="2743200" cy="1143000"/>
          </a:xfrm>
          <a:prstGeom prst="rect">
            <a:avLst/>
          </a:prstGeom>
          <a:noFill/>
          <a:ln/>
        </p:spPr>
        <p:txBody>
          <a:bodyPr wrap="square" lIns="508" tIns="508" rIns="508" bIns="508" rtlCol="0" anchor="t">
            <a:normAutofit/>
          </a:bodyPr>
          <a:lstStyle/>
          <a:p>
            <a:pPr indent="0" marL="0">
              <a:buNone/>
            </a:pPr>
            <a:r>
              <a:rPr lang="en-US" sz="1500" dirty="0">
                <a:solidFill>
                  <a:srgbClr val="143126"/>
                </a:solidFill>
                <a:latin typeface="Aptos" pitchFamily="34" charset="0"/>
                <a:ea typeface="Aptos" pitchFamily="34" charset="-122"/>
                <a:cs typeface="Aptos" pitchFamily="34" charset="-120"/>
              </a:rPr>
              <a:t>1. State the purpose</a:t>
            </a:r>
            <a:endParaRPr lang="en-US" sz="1500" dirty="0"/>
          </a:p>
          <a:p>
            <a:pPr indent="0" marL="0">
              <a:buNone/>
            </a:pPr>
            <a:r>
              <a:rPr lang="en-US" sz="1500" dirty="0">
                <a:solidFill>
                  <a:srgbClr val="143126"/>
                </a:solidFill>
                <a:latin typeface="Aptos" pitchFamily="34" charset="0"/>
                <a:ea typeface="Aptos" pitchFamily="34" charset="-122"/>
                <a:cs typeface="Aptos" pitchFamily="34" charset="-120"/>
              </a:rPr>
              <a:t>2. Explain the method</a:t>
            </a:r>
            <a:endParaRPr lang="en-US" sz="1500" dirty="0"/>
          </a:p>
          <a:p>
            <a:pPr indent="0" marL="0">
              <a:buNone/>
            </a:pPr>
            <a:r>
              <a:rPr lang="en-US" sz="1500" dirty="0">
                <a:solidFill>
                  <a:srgbClr val="143126"/>
                </a:solidFill>
                <a:latin typeface="Aptos" pitchFamily="34" charset="0"/>
                <a:ea typeface="Aptos" pitchFamily="34" charset="-122"/>
                <a:cs typeface="Aptos" pitchFamily="34" charset="-120"/>
              </a:rPr>
              <a:t>3. Justify why it fits</a:t>
            </a:r>
            <a:endParaRPr lang="en-US" sz="1500" dirty="0"/>
          </a:p>
          <a:p>
            <a:pPr indent="0" marL="0">
              <a:buNone/>
            </a:pPr>
            <a:r>
              <a:rPr lang="en-US" sz="1500" dirty="0">
                <a:solidFill>
                  <a:srgbClr val="143126"/>
                </a:solidFill>
                <a:latin typeface="Aptos" pitchFamily="34" charset="0"/>
                <a:ea typeface="Aptos" pitchFamily="34" charset="-122"/>
                <a:cs typeface="Aptos" pitchFamily="34" charset="-120"/>
              </a:rPr>
              <a:t>4. Mention the limitation</a:t>
            </a:r>
            <a:endParaRPr lang="en-US" sz="1500" dirty="0"/>
          </a:p>
        </p:txBody>
      </p:sp>
      <p:sp>
        <p:nvSpPr>
          <p:cNvPr id="12" name="Text 9"/>
          <p:cNvSpPr/>
          <p:nvPr/>
        </p:nvSpPr>
        <p:spPr>
          <a:xfrm>
            <a:off x="5989320" y="5285232"/>
            <a:ext cx="2743200" cy="822960"/>
          </a:xfrm>
          <a:prstGeom prst="rect">
            <a:avLst/>
          </a:prstGeom>
          <a:noFill/>
          <a:ln/>
        </p:spPr>
        <p:txBody>
          <a:bodyPr wrap="square" lIns="508" tIns="508" rIns="508" bIns="508" rtlCol="0" anchor="ctr">
            <a:normAutofit/>
          </a:bodyPr>
          <a:lstStyle/>
          <a:p>
            <a:pPr indent="0" marL="0">
              <a:buNone/>
            </a:pPr>
            <a:r>
              <a:rPr lang="en-US" sz="1300" i="1" dirty="0">
                <a:solidFill>
                  <a:srgbClr val="5D6B63"/>
                </a:solidFill>
                <a:latin typeface="Aptos" pitchFamily="34" charset="0"/>
                <a:ea typeface="Aptos" pitchFamily="34" charset="-122"/>
                <a:cs typeface="Aptos" pitchFamily="34" charset="-120"/>
              </a:rPr>
              <a:t>Tip: Do not just read the slide. Use the slide as proof, then explain the reasoning in your own words.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mnt/data/soil_render/slide-8.png">    </p:cNvPr>
          <p:cNvPicPr>
            <a:picLocks noChangeAspect="1"/>
          </p:cNvPicPr>
          <p:nvPr/>
        </p:nvPicPr>
        <p:blipFill>
          <a:blip r:embed="rId1"/>
          <a:stretch>
            <a:fillRect/>
          </a:stretch>
        </p:blipFill>
        <p:spPr>
          <a:xfrm>
            <a:off x="0" y="0"/>
            <a:ext cx="9144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7F4"/>
        </a:solidFill>
      </p:bgPr>
    </p:bg>
    <p:spTree>
      <p:nvGrpSpPr>
        <p:cNvPr id="1" name=""/>
        <p:cNvGrpSpPr/>
        <p:nvPr/>
      </p:nvGrpSpPr>
      <p:grpSpPr>
        <a:xfrm>
          <a:off x="0" y="0"/>
          <a:ext cx="0" cy="0"/>
          <a:chOff x="0" y="0"/>
          <a:chExt cx="0" cy="0"/>
        </a:xfrm>
      </p:grpSpPr>
      <p:sp>
        <p:nvSpPr>
          <p:cNvPr id="2" name="Text 0"/>
          <p:cNvSpPr/>
          <p:nvPr/>
        </p:nvSpPr>
        <p:spPr>
          <a:xfrm>
            <a:off x="411480" y="256032"/>
            <a:ext cx="5440680" cy="320040"/>
          </a:xfrm>
          <a:prstGeom prst="rect">
            <a:avLst/>
          </a:prstGeom>
          <a:noFill/>
          <a:ln/>
        </p:spPr>
        <p:txBody>
          <a:bodyPr wrap="square" lIns="0" tIns="0" rIns="0" bIns="0" rtlCol="0" anchor="ctr"/>
          <a:lstStyle/>
          <a:p>
            <a:pPr indent="0" marL="0">
              <a:buNone/>
            </a:pPr>
            <a:r>
              <a:rPr lang="en-US" sz="1100" b="1" dirty="0">
                <a:solidFill>
                  <a:srgbClr val="1F8A55"/>
                </a:solidFill>
                <a:latin typeface="Aptos" pitchFamily="34" charset="0"/>
                <a:ea typeface="Aptos" pitchFamily="34" charset="-122"/>
                <a:cs typeface="Aptos" pitchFamily="34" charset="-120"/>
              </a:rPr>
              <a:t>Slide 8 — Explanation</a:t>
            </a:r>
            <a:endParaRPr lang="en-US" sz="1100" dirty="0"/>
          </a:p>
        </p:txBody>
      </p:sp>
      <p:sp>
        <p:nvSpPr>
          <p:cNvPr id="3" name="Text 1"/>
          <p:cNvSpPr/>
          <p:nvPr/>
        </p:nvSpPr>
        <p:spPr>
          <a:xfrm>
            <a:off x="411480" y="640080"/>
            <a:ext cx="5440680" cy="530352"/>
          </a:xfrm>
          <a:prstGeom prst="rect">
            <a:avLst/>
          </a:prstGeom>
          <a:noFill/>
          <a:ln/>
        </p:spPr>
        <p:txBody>
          <a:bodyPr wrap="square" lIns="0" tIns="0" rIns="0" bIns="0" rtlCol="0" anchor="ctr"/>
          <a:lstStyle/>
          <a:p>
            <a:pPr indent="0" marL="0">
              <a:buNone/>
            </a:pPr>
            <a:r>
              <a:rPr lang="en-US" sz="2600" b="1" dirty="0">
                <a:solidFill>
                  <a:srgbClr val="143126"/>
                </a:solidFill>
                <a:latin typeface="Aptos Display" pitchFamily="34" charset="0"/>
                <a:ea typeface="Aptos Display" pitchFamily="34" charset="-122"/>
                <a:cs typeface="Aptos Display" pitchFamily="34" charset="-120"/>
              </a:rPr>
              <a:t>Validation + Evaluation</a:t>
            </a:r>
            <a:endParaRPr lang="en-US" sz="2600" dirty="0"/>
          </a:p>
        </p:txBody>
      </p:sp>
      <p:sp>
        <p:nvSpPr>
          <p:cNvPr id="4" name="Text 2"/>
          <p:cNvSpPr/>
          <p:nvPr/>
        </p:nvSpPr>
        <p:spPr>
          <a:xfrm>
            <a:off x="429768" y="1261872"/>
            <a:ext cx="5212080" cy="502920"/>
          </a:xfrm>
          <a:prstGeom prst="rect">
            <a:avLst/>
          </a:prstGeom>
          <a:noFill/>
          <a:ln/>
        </p:spPr>
        <p:txBody>
          <a:bodyPr wrap="square" lIns="254" tIns="254" rIns="254" bIns="254" rtlCol="0" anchor="ctr">
            <a:normAutofit/>
          </a:bodyPr>
          <a:lstStyle/>
          <a:p>
            <a:pPr indent="0" marL="0">
              <a:buNone/>
            </a:pPr>
            <a:r>
              <a:rPr lang="en-US" sz="1500" i="1" dirty="0">
                <a:solidFill>
                  <a:srgbClr val="5D6B63"/>
                </a:solidFill>
                <a:latin typeface="Aptos" pitchFamily="34" charset="0"/>
                <a:ea typeface="Aptos" pitchFamily="34" charset="-122"/>
                <a:cs typeface="Aptos" pitchFamily="34" charset="-120"/>
              </a:rPr>
              <a:t>Evaluation uses both global metrics and class-level error analysis.</a:t>
            </a:r>
            <a:endParaRPr lang="en-US" sz="1500" dirty="0"/>
          </a:p>
        </p:txBody>
      </p:sp>
      <p:sp>
        <p:nvSpPr>
          <p:cNvPr id="5" name="Text 3"/>
          <p:cNvSpPr/>
          <p:nvPr/>
        </p:nvSpPr>
        <p:spPr>
          <a:xfrm>
            <a:off x="502920" y="1920240"/>
            <a:ext cx="5120640" cy="2057400"/>
          </a:xfrm>
          <a:prstGeom prst="rect">
            <a:avLst/>
          </a:prstGeom>
          <a:noFill/>
          <a:ln/>
        </p:spPr>
        <p:txBody>
          <a:bodyPr wrap="square" lIns="381" tIns="381" rIns="381" bIns="381" rtlCol="0" anchor="t">
            <a:normAutofit/>
          </a:bodyPr>
          <a:lstStyle/>
          <a:p>
            <a:pPr indent="0" marL="0">
              <a:buNone/>
            </a:pPr>
            <a:r>
              <a:rPr lang="en-US" sz="1700" dirty="0">
                <a:solidFill>
                  <a:srgbClr val="143126"/>
                </a:solidFill>
                <a:latin typeface="Aptos" pitchFamily="34" charset="0"/>
                <a:ea typeface="Aptos" pitchFamily="34" charset="-122"/>
                <a:cs typeface="Aptos" pitchFamily="34" charset="-120"/>
              </a:rPr>
              <a:t>• Train-test split: 704 training samples and 176 testing samples.</a:t>
            </a:r>
            <a:endParaRPr lang="en-US" sz="1700" dirty="0"/>
          </a:p>
          <a:p>
            <a:pPr indent="0" marL="0">
              <a:buNone/>
            </a:pPr>
            <a:r>
              <a:rPr lang="en-US" sz="1700" dirty="0">
                <a:solidFill>
                  <a:srgbClr val="143126"/>
                </a:solidFill>
                <a:latin typeface="Aptos" pitchFamily="34" charset="0"/>
                <a:ea typeface="Aptos" pitchFamily="34" charset="-122"/>
                <a:cs typeface="Aptos" pitchFamily="34" charset="-120"/>
              </a:rPr>
              <a:t>• Macro precision, recall and F1 are important because the classes are imbalanced.</a:t>
            </a:r>
            <a:endParaRPr lang="en-US" sz="1700" dirty="0"/>
          </a:p>
          <a:p>
            <a:pPr indent="0" marL="0">
              <a:buNone/>
            </a:pPr>
            <a:r>
              <a:rPr lang="en-US" sz="1700" dirty="0">
                <a:solidFill>
                  <a:srgbClr val="143126"/>
                </a:solidFill>
                <a:latin typeface="Aptos" pitchFamily="34" charset="0"/>
                <a:ea typeface="Aptos" pitchFamily="34" charset="-122"/>
                <a:cs typeface="Aptos" pitchFamily="34" charset="-120"/>
              </a:rPr>
              <a:t>• Confusion matrices show exactly where Low, Medium and High samples are misclassified.</a:t>
            </a:r>
            <a:endParaRPr lang="en-US" sz="1700" dirty="0"/>
          </a:p>
        </p:txBody>
      </p:sp>
      <p:sp>
        <p:nvSpPr>
          <p:cNvPr id="6" name="Text 4"/>
          <p:cNvSpPr/>
          <p:nvPr/>
        </p:nvSpPr>
        <p:spPr>
          <a:xfrm>
            <a:off x="502920" y="4279392"/>
            <a:ext cx="5212080" cy="274320"/>
          </a:xfrm>
          <a:prstGeom prst="rect">
            <a:avLst/>
          </a:prstGeom>
          <a:noFill/>
          <a:ln/>
        </p:spPr>
        <p:txBody>
          <a:bodyPr wrap="square" lIns="0" tIns="0" rIns="0" bIns="0" rtlCol="0" anchor="ctr"/>
          <a:lstStyle/>
          <a:p>
            <a:pPr indent="0" marL="0">
              <a:buNone/>
            </a:pPr>
            <a:r>
              <a:rPr lang="en-US" sz="1200" b="1" dirty="0">
                <a:solidFill>
                  <a:srgbClr val="F05A28"/>
                </a:solidFill>
                <a:latin typeface="Aptos" pitchFamily="34" charset="0"/>
                <a:ea typeface="Aptos" pitchFamily="34" charset="-122"/>
                <a:cs typeface="Aptos" pitchFamily="34" charset="-120"/>
              </a:rPr>
              <a:t>Say this in viva / presentation</a:t>
            </a:r>
            <a:endParaRPr lang="en-US" sz="1200" dirty="0"/>
          </a:p>
        </p:txBody>
      </p:sp>
      <p:sp>
        <p:nvSpPr>
          <p:cNvPr id="7" name="Text 5"/>
          <p:cNvSpPr/>
          <p:nvPr/>
        </p:nvSpPr>
        <p:spPr>
          <a:xfrm>
            <a:off x="502920" y="4608576"/>
            <a:ext cx="5257800" cy="960120"/>
          </a:xfrm>
          <a:prstGeom prst="rect">
            <a:avLst/>
          </a:prstGeom>
          <a:solidFill>
            <a:srgbClr val="FFFFFF"/>
          </a:solidFill>
          <a:ln w="12700">
            <a:solidFill>
              <a:srgbClr val="D8E5DA"/>
            </a:solidFill>
          </a:ln>
        </p:spPr>
        <p:txBody>
          <a:bodyPr wrap="square" lIns="762" tIns="762" rIns="762" bIns="762" rtlCol="0" anchor="ctr">
            <a:normAutofit/>
          </a:bodyPr>
          <a:lstStyle/>
          <a:p>
            <a:pPr indent="0" marL="0">
              <a:buNone/>
            </a:pPr>
            <a:r>
              <a:rPr lang="en-US" sz="1700" b="1" dirty="0">
                <a:solidFill>
                  <a:srgbClr val="062B20"/>
                </a:solidFill>
                <a:latin typeface="Aptos" pitchFamily="34" charset="0"/>
                <a:ea typeface="Aptos" pitchFamily="34" charset="-122"/>
                <a:cs typeface="Aptos" pitchFamily="34" charset="-120"/>
              </a:rPr>
              <a:t>“Because High Fertility is rare, I did not depend only on accuracy.”</a:t>
            </a:r>
            <a:endParaRPr lang="en-US" sz="1700" dirty="0"/>
          </a:p>
        </p:txBody>
      </p:sp>
      <p:sp>
        <p:nvSpPr>
          <p:cNvPr id="8" name="Text 6"/>
          <p:cNvSpPr/>
          <p:nvPr/>
        </p:nvSpPr>
        <p:spPr>
          <a:xfrm>
            <a:off x="5989320" y="777240"/>
            <a:ext cx="2743200" cy="228600"/>
          </a:xfrm>
          <a:prstGeom prst="rect">
            <a:avLst/>
          </a:prstGeom>
          <a:noFill/>
          <a:ln/>
        </p:spPr>
        <p:txBody>
          <a:bodyPr wrap="square" lIns="0" tIns="0" rIns="0" bIns="0" rtlCol="0" anchor="ctr"/>
          <a:lstStyle/>
          <a:p>
            <a:pPr indent="0" marL="0">
              <a:buNone/>
            </a:pPr>
            <a:r>
              <a:rPr lang="en-US" sz="1000" b="1" dirty="0">
                <a:solidFill>
                  <a:srgbClr val="5D6B63"/>
                </a:solidFill>
                <a:latin typeface="Aptos" pitchFamily="34" charset="0"/>
                <a:ea typeface="Aptos" pitchFamily="34" charset="-122"/>
                <a:cs typeface="Aptos" pitchFamily="34" charset="-120"/>
              </a:rPr>
              <a:t>Reference slide kept unchanged</a:t>
            </a:r>
            <a:endParaRPr lang="en-US" sz="1000" dirty="0"/>
          </a:p>
        </p:txBody>
      </p:sp>
      <p:pic>
        <p:nvPicPr>
          <p:cNvPr id="9" name="Image 0" descr="/mnt/data/soil_render/slide-8.png">    </p:cNvPr>
          <p:cNvPicPr>
            <a:picLocks noChangeAspect="1"/>
          </p:cNvPicPr>
          <p:nvPr/>
        </p:nvPicPr>
        <p:blipFill>
          <a:blip r:embed="rId1"/>
          <a:stretch>
            <a:fillRect/>
          </a:stretch>
        </p:blipFill>
        <p:spPr>
          <a:xfrm>
            <a:off x="5989320" y="1078992"/>
            <a:ext cx="2743200" cy="2057400"/>
          </a:xfrm>
          <a:prstGeom prst="rect">
            <a:avLst/>
          </a:prstGeom>
        </p:spPr>
      </p:pic>
      <p:sp>
        <p:nvSpPr>
          <p:cNvPr id="10" name="Text 7"/>
          <p:cNvSpPr/>
          <p:nvPr/>
        </p:nvSpPr>
        <p:spPr>
          <a:xfrm>
            <a:off x="5989320" y="3474720"/>
            <a:ext cx="2743200" cy="256032"/>
          </a:xfrm>
          <a:prstGeom prst="rect">
            <a:avLst/>
          </a:prstGeom>
          <a:noFill/>
          <a:ln/>
        </p:spPr>
        <p:txBody>
          <a:bodyPr wrap="square" lIns="0" tIns="0" rIns="0" bIns="0" rtlCol="0" anchor="ctr"/>
          <a:lstStyle/>
          <a:p>
            <a:pPr indent="0" marL="0">
              <a:buNone/>
            </a:pPr>
            <a:r>
              <a:rPr lang="en-US" sz="1200" b="1" dirty="0">
                <a:solidFill>
                  <a:srgbClr val="1F8A55"/>
                </a:solidFill>
                <a:latin typeface="Aptos" pitchFamily="34" charset="0"/>
                <a:ea typeface="Aptos" pitchFamily="34" charset="-122"/>
                <a:cs typeface="Aptos" pitchFamily="34" charset="-120"/>
              </a:rPr>
              <a:t>Quick structure to speak</a:t>
            </a:r>
            <a:endParaRPr lang="en-US" sz="1200" dirty="0"/>
          </a:p>
        </p:txBody>
      </p:sp>
      <p:sp>
        <p:nvSpPr>
          <p:cNvPr id="11" name="Text 8"/>
          <p:cNvSpPr/>
          <p:nvPr/>
        </p:nvSpPr>
        <p:spPr>
          <a:xfrm>
            <a:off x="5989320" y="3822192"/>
            <a:ext cx="2743200" cy="1143000"/>
          </a:xfrm>
          <a:prstGeom prst="rect">
            <a:avLst/>
          </a:prstGeom>
          <a:noFill/>
          <a:ln/>
        </p:spPr>
        <p:txBody>
          <a:bodyPr wrap="square" lIns="508" tIns="508" rIns="508" bIns="508" rtlCol="0" anchor="t">
            <a:normAutofit/>
          </a:bodyPr>
          <a:lstStyle/>
          <a:p>
            <a:pPr indent="0" marL="0">
              <a:buNone/>
            </a:pPr>
            <a:r>
              <a:rPr lang="en-US" sz="1500" dirty="0">
                <a:solidFill>
                  <a:srgbClr val="143126"/>
                </a:solidFill>
                <a:latin typeface="Aptos" pitchFamily="34" charset="0"/>
                <a:ea typeface="Aptos" pitchFamily="34" charset="-122"/>
                <a:cs typeface="Aptos" pitchFamily="34" charset="-120"/>
              </a:rPr>
              <a:t>1. State the purpose</a:t>
            </a:r>
            <a:endParaRPr lang="en-US" sz="1500" dirty="0"/>
          </a:p>
          <a:p>
            <a:pPr indent="0" marL="0">
              <a:buNone/>
            </a:pPr>
            <a:r>
              <a:rPr lang="en-US" sz="1500" dirty="0">
                <a:solidFill>
                  <a:srgbClr val="143126"/>
                </a:solidFill>
                <a:latin typeface="Aptos" pitchFamily="34" charset="0"/>
                <a:ea typeface="Aptos" pitchFamily="34" charset="-122"/>
                <a:cs typeface="Aptos" pitchFamily="34" charset="-120"/>
              </a:rPr>
              <a:t>2. Explain the method</a:t>
            </a:r>
            <a:endParaRPr lang="en-US" sz="1500" dirty="0"/>
          </a:p>
          <a:p>
            <a:pPr indent="0" marL="0">
              <a:buNone/>
            </a:pPr>
            <a:r>
              <a:rPr lang="en-US" sz="1500" dirty="0">
                <a:solidFill>
                  <a:srgbClr val="143126"/>
                </a:solidFill>
                <a:latin typeface="Aptos" pitchFamily="34" charset="0"/>
                <a:ea typeface="Aptos" pitchFamily="34" charset="-122"/>
                <a:cs typeface="Aptos" pitchFamily="34" charset="-120"/>
              </a:rPr>
              <a:t>3. Justify why it fits</a:t>
            </a:r>
            <a:endParaRPr lang="en-US" sz="1500" dirty="0"/>
          </a:p>
          <a:p>
            <a:pPr indent="0" marL="0">
              <a:buNone/>
            </a:pPr>
            <a:r>
              <a:rPr lang="en-US" sz="1500" dirty="0">
                <a:solidFill>
                  <a:srgbClr val="143126"/>
                </a:solidFill>
                <a:latin typeface="Aptos" pitchFamily="34" charset="0"/>
                <a:ea typeface="Aptos" pitchFamily="34" charset="-122"/>
                <a:cs typeface="Aptos" pitchFamily="34" charset="-120"/>
              </a:rPr>
              <a:t>4. Mention the limitation</a:t>
            </a:r>
            <a:endParaRPr lang="en-US" sz="1500" dirty="0"/>
          </a:p>
        </p:txBody>
      </p:sp>
      <p:sp>
        <p:nvSpPr>
          <p:cNvPr id="12" name="Text 9"/>
          <p:cNvSpPr/>
          <p:nvPr/>
        </p:nvSpPr>
        <p:spPr>
          <a:xfrm>
            <a:off x="5989320" y="5285232"/>
            <a:ext cx="2743200" cy="822960"/>
          </a:xfrm>
          <a:prstGeom prst="rect">
            <a:avLst/>
          </a:prstGeom>
          <a:noFill/>
          <a:ln/>
        </p:spPr>
        <p:txBody>
          <a:bodyPr wrap="square" lIns="508" tIns="508" rIns="508" bIns="508" rtlCol="0" anchor="ctr">
            <a:normAutofit/>
          </a:bodyPr>
          <a:lstStyle/>
          <a:p>
            <a:pPr indent="0" marL="0">
              <a:buNone/>
            </a:pPr>
            <a:r>
              <a:rPr lang="en-US" sz="1300" i="1" dirty="0">
                <a:solidFill>
                  <a:srgbClr val="5D6B63"/>
                </a:solidFill>
                <a:latin typeface="Aptos" pitchFamily="34" charset="0"/>
                <a:ea typeface="Aptos" pitchFamily="34" charset="-122"/>
                <a:cs typeface="Aptos" pitchFamily="34" charset="-120"/>
              </a:rPr>
              <a:t>Tip: Do not just read the slide. Use the slide as proof, then explain the reasoning in your own words.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mnt/data/soil_render/slide-9.png">    </p:cNvPr>
          <p:cNvPicPr>
            <a:picLocks noChangeAspect="1"/>
          </p:cNvPicPr>
          <p:nvPr/>
        </p:nvPicPr>
        <p:blipFill>
          <a:blip r:embed="rId1"/>
          <a:stretch>
            <a:fillRect/>
          </a:stretch>
        </p:blipFill>
        <p:spPr>
          <a:xfrm>
            <a:off x="0" y="0"/>
            <a:ext cx="9144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7F4"/>
        </a:solidFill>
      </p:bgPr>
    </p:bg>
    <p:spTree>
      <p:nvGrpSpPr>
        <p:cNvPr id="1" name=""/>
        <p:cNvGrpSpPr/>
        <p:nvPr/>
      </p:nvGrpSpPr>
      <p:grpSpPr>
        <a:xfrm>
          <a:off x="0" y="0"/>
          <a:ext cx="0" cy="0"/>
          <a:chOff x="0" y="0"/>
          <a:chExt cx="0" cy="0"/>
        </a:xfrm>
      </p:grpSpPr>
      <p:sp>
        <p:nvSpPr>
          <p:cNvPr id="2" name="Text 0"/>
          <p:cNvSpPr/>
          <p:nvPr/>
        </p:nvSpPr>
        <p:spPr>
          <a:xfrm>
            <a:off x="411480" y="256032"/>
            <a:ext cx="5440680" cy="320040"/>
          </a:xfrm>
          <a:prstGeom prst="rect">
            <a:avLst/>
          </a:prstGeom>
          <a:noFill/>
          <a:ln/>
        </p:spPr>
        <p:txBody>
          <a:bodyPr wrap="square" lIns="0" tIns="0" rIns="0" bIns="0" rtlCol="0" anchor="ctr"/>
          <a:lstStyle/>
          <a:p>
            <a:pPr indent="0" marL="0">
              <a:buNone/>
            </a:pPr>
            <a:r>
              <a:rPr lang="en-US" sz="1100" b="1" dirty="0">
                <a:solidFill>
                  <a:srgbClr val="1F8A55"/>
                </a:solidFill>
                <a:latin typeface="Aptos" pitchFamily="34" charset="0"/>
                <a:ea typeface="Aptos" pitchFamily="34" charset="-122"/>
                <a:cs typeface="Aptos" pitchFamily="34" charset="-120"/>
              </a:rPr>
              <a:t>Slide 9 — Explanation</a:t>
            </a:r>
            <a:endParaRPr lang="en-US" sz="1100" dirty="0"/>
          </a:p>
        </p:txBody>
      </p:sp>
      <p:sp>
        <p:nvSpPr>
          <p:cNvPr id="3" name="Text 1"/>
          <p:cNvSpPr/>
          <p:nvPr/>
        </p:nvSpPr>
        <p:spPr>
          <a:xfrm>
            <a:off x="411480" y="640080"/>
            <a:ext cx="5440680" cy="530352"/>
          </a:xfrm>
          <a:prstGeom prst="rect">
            <a:avLst/>
          </a:prstGeom>
          <a:noFill/>
          <a:ln/>
        </p:spPr>
        <p:txBody>
          <a:bodyPr wrap="square" lIns="0" tIns="0" rIns="0" bIns="0" rtlCol="0" anchor="ctr"/>
          <a:lstStyle/>
          <a:p>
            <a:pPr indent="0" marL="0">
              <a:buNone/>
            </a:pPr>
            <a:r>
              <a:rPr lang="en-US" sz="2600" b="1" dirty="0">
                <a:solidFill>
                  <a:srgbClr val="143126"/>
                </a:solidFill>
                <a:latin typeface="Aptos Display" pitchFamily="34" charset="0"/>
                <a:ea typeface="Aptos Display" pitchFamily="34" charset="-122"/>
                <a:cs typeface="Aptos Display" pitchFamily="34" charset="-120"/>
              </a:rPr>
              <a:t>Results + Conclusion</a:t>
            </a:r>
            <a:endParaRPr lang="en-US" sz="2600" dirty="0"/>
          </a:p>
        </p:txBody>
      </p:sp>
      <p:sp>
        <p:nvSpPr>
          <p:cNvPr id="4" name="Text 2"/>
          <p:cNvSpPr/>
          <p:nvPr/>
        </p:nvSpPr>
        <p:spPr>
          <a:xfrm>
            <a:off x="429768" y="1261872"/>
            <a:ext cx="5212080" cy="502920"/>
          </a:xfrm>
          <a:prstGeom prst="rect">
            <a:avLst/>
          </a:prstGeom>
          <a:noFill/>
          <a:ln/>
        </p:spPr>
        <p:txBody>
          <a:bodyPr wrap="square" lIns="254" tIns="254" rIns="254" bIns="254" rtlCol="0" anchor="ctr">
            <a:normAutofit/>
          </a:bodyPr>
          <a:lstStyle/>
          <a:p>
            <a:pPr indent="0" marL="0">
              <a:buNone/>
            </a:pPr>
            <a:r>
              <a:rPr lang="en-US" sz="1500" i="1" dirty="0">
                <a:solidFill>
                  <a:srgbClr val="5D6B63"/>
                </a:solidFill>
                <a:latin typeface="Aptos" pitchFamily="34" charset="0"/>
                <a:ea typeface="Aptos" pitchFamily="34" charset="-122"/>
                <a:cs typeface="Aptos" pitchFamily="34" charset="-120"/>
              </a:rPr>
              <a:t>The final result is not just “which model won”; it is a trade-off analysis.</a:t>
            </a:r>
            <a:endParaRPr lang="en-US" sz="1500" dirty="0"/>
          </a:p>
        </p:txBody>
      </p:sp>
      <p:sp>
        <p:nvSpPr>
          <p:cNvPr id="5" name="Text 3"/>
          <p:cNvSpPr/>
          <p:nvPr/>
        </p:nvSpPr>
        <p:spPr>
          <a:xfrm>
            <a:off x="502920" y="1920240"/>
            <a:ext cx="5120640" cy="2057400"/>
          </a:xfrm>
          <a:prstGeom prst="rect">
            <a:avLst/>
          </a:prstGeom>
          <a:noFill/>
          <a:ln/>
        </p:spPr>
        <p:txBody>
          <a:bodyPr wrap="square" lIns="381" tIns="381" rIns="381" bIns="381" rtlCol="0" anchor="t">
            <a:normAutofit/>
          </a:bodyPr>
          <a:lstStyle/>
          <a:p>
            <a:pPr indent="0" marL="0">
              <a:buNone/>
            </a:pPr>
            <a:r>
              <a:rPr lang="en-US" sz="1700" dirty="0">
                <a:solidFill>
                  <a:srgbClr val="143126"/>
                </a:solidFill>
                <a:latin typeface="Aptos" pitchFamily="34" charset="0"/>
                <a:ea typeface="Aptos" pitchFamily="34" charset="-122"/>
                <a:cs typeface="Aptos" pitchFamily="34" charset="-120"/>
              </a:rPr>
              <a:t>• Random Forest gives higher overall accuracy: 90.34% compared with 86.93% for Decision Tree.</a:t>
            </a:r>
            <a:endParaRPr lang="en-US" sz="1700" dirty="0"/>
          </a:p>
          <a:p>
            <a:pPr indent="0" marL="0">
              <a:buNone/>
            </a:pPr>
            <a:r>
              <a:rPr lang="en-US" sz="1700" dirty="0">
                <a:solidFill>
                  <a:srgbClr val="143126"/>
                </a:solidFill>
                <a:latin typeface="Aptos" pitchFamily="34" charset="0"/>
                <a:ea typeface="Aptos" pitchFamily="34" charset="-122"/>
                <a:cs typeface="Aptos" pitchFamily="34" charset="-120"/>
              </a:rPr>
              <a:t>• Decision Tree remains valuable because it is easier to explain and has stronger macro recall/F1 in the shown table.</a:t>
            </a:r>
            <a:endParaRPr lang="en-US" sz="1700" dirty="0"/>
          </a:p>
          <a:p>
            <a:pPr indent="0" marL="0">
              <a:buNone/>
            </a:pPr>
            <a:r>
              <a:rPr lang="en-US" sz="1700" dirty="0">
                <a:solidFill>
                  <a:srgbClr val="143126"/>
                </a:solidFill>
                <a:latin typeface="Aptos" pitchFamily="34" charset="0"/>
                <a:ea typeface="Aptos" pitchFamily="34" charset="-122"/>
                <a:cs typeface="Aptos" pitchFamily="34" charset="-120"/>
              </a:rPr>
              <a:t>• Future work: model artifact versioning, drift monitoring, file/API input and more High Fertility samples.</a:t>
            </a:r>
            <a:endParaRPr lang="en-US" sz="1700" dirty="0"/>
          </a:p>
        </p:txBody>
      </p:sp>
      <p:sp>
        <p:nvSpPr>
          <p:cNvPr id="6" name="Text 4"/>
          <p:cNvSpPr/>
          <p:nvPr/>
        </p:nvSpPr>
        <p:spPr>
          <a:xfrm>
            <a:off x="502920" y="4279392"/>
            <a:ext cx="5212080" cy="274320"/>
          </a:xfrm>
          <a:prstGeom prst="rect">
            <a:avLst/>
          </a:prstGeom>
          <a:noFill/>
          <a:ln/>
        </p:spPr>
        <p:txBody>
          <a:bodyPr wrap="square" lIns="0" tIns="0" rIns="0" bIns="0" rtlCol="0" anchor="ctr"/>
          <a:lstStyle/>
          <a:p>
            <a:pPr indent="0" marL="0">
              <a:buNone/>
            </a:pPr>
            <a:r>
              <a:rPr lang="en-US" sz="1200" b="1" dirty="0">
                <a:solidFill>
                  <a:srgbClr val="F05A28"/>
                </a:solidFill>
                <a:latin typeface="Aptos" pitchFamily="34" charset="0"/>
                <a:ea typeface="Aptos" pitchFamily="34" charset="-122"/>
                <a:cs typeface="Aptos" pitchFamily="34" charset="-120"/>
              </a:rPr>
              <a:t>Say this in viva / presentation</a:t>
            </a:r>
            <a:endParaRPr lang="en-US" sz="1200" dirty="0"/>
          </a:p>
        </p:txBody>
      </p:sp>
      <p:sp>
        <p:nvSpPr>
          <p:cNvPr id="7" name="Text 5"/>
          <p:cNvSpPr/>
          <p:nvPr/>
        </p:nvSpPr>
        <p:spPr>
          <a:xfrm>
            <a:off x="502920" y="4608576"/>
            <a:ext cx="5257800" cy="960120"/>
          </a:xfrm>
          <a:prstGeom prst="rect">
            <a:avLst/>
          </a:prstGeom>
          <a:solidFill>
            <a:srgbClr val="FFFFFF"/>
          </a:solidFill>
          <a:ln w="12700">
            <a:solidFill>
              <a:srgbClr val="D8E5DA"/>
            </a:solidFill>
          </a:ln>
        </p:spPr>
        <p:txBody>
          <a:bodyPr wrap="square" lIns="762" tIns="762" rIns="762" bIns="762" rtlCol="0" anchor="ctr">
            <a:normAutofit/>
          </a:bodyPr>
          <a:lstStyle/>
          <a:p>
            <a:pPr indent="0" marL="0">
              <a:buNone/>
            </a:pPr>
            <a:r>
              <a:rPr lang="en-US" sz="1700" b="1" dirty="0">
                <a:solidFill>
                  <a:srgbClr val="062B20"/>
                </a:solidFill>
                <a:latin typeface="Aptos" pitchFamily="34" charset="0"/>
                <a:ea typeface="Aptos" pitchFamily="34" charset="-122"/>
                <a:cs typeface="Aptos" pitchFamily="34" charset="-120"/>
              </a:rPr>
              <a:t>“Random Forest is stronger overall, but Decision Tree is better for interpretability.”</a:t>
            </a:r>
            <a:endParaRPr lang="en-US" sz="1700" dirty="0"/>
          </a:p>
        </p:txBody>
      </p:sp>
      <p:sp>
        <p:nvSpPr>
          <p:cNvPr id="8" name="Text 6"/>
          <p:cNvSpPr/>
          <p:nvPr/>
        </p:nvSpPr>
        <p:spPr>
          <a:xfrm>
            <a:off x="5989320" y="777240"/>
            <a:ext cx="2743200" cy="228600"/>
          </a:xfrm>
          <a:prstGeom prst="rect">
            <a:avLst/>
          </a:prstGeom>
          <a:noFill/>
          <a:ln/>
        </p:spPr>
        <p:txBody>
          <a:bodyPr wrap="square" lIns="0" tIns="0" rIns="0" bIns="0" rtlCol="0" anchor="ctr"/>
          <a:lstStyle/>
          <a:p>
            <a:pPr indent="0" marL="0">
              <a:buNone/>
            </a:pPr>
            <a:r>
              <a:rPr lang="en-US" sz="1000" b="1" dirty="0">
                <a:solidFill>
                  <a:srgbClr val="5D6B63"/>
                </a:solidFill>
                <a:latin typeface="Aptos" pitchFamily="34" charset="0"/>
                <a:ea typeface="Aptos" pitchFamily="34" charset="-122"/>
                <a:cs typeface="Aptos" pitchFamily="34" charset="-120"/>
              </a:rPr>
              <a:t>Reference slide kept unchanged</a:t>
            </a:r>
            <a:endParaRPr lang="en-US" sz="1000" dirty="0"/>
          </a:p>
        </p:txBody>
      </p:sp>
      <p:pic>
        <p:nvPicPr>
          <p:cNvPr id="9" name="Image 0" descr="/mnt/data/soil_render/slide-9.png">    </p:cNvPr>
          <p:cNvPicPr>
            <a:picLocks noChangeAspect="1"/>
          </p:cNvPicPr>
          <p:nvPr/>
        </p:nvPicPr>
        <p:blipFill>
          <a:blip r:embed="rId1"/>
          <a:stretch>
            <a:fillRect/>
          </a:stretch>
        </p:blipFill>
        <p:spPr>
          <a:xfrm>
            <a:off x="5989320" y="1078992"/>
            <a:ext cx="2743200" cy="2057400"/>
          </a:xfrm>
          <a:prstGeom prst="rect">
            <a:avLst/>
          </a:prstGeom>
        </p:spPr>
      </p:pic>
      <p:sp>
        <p:nvSpPr>
          <p:cNvPr id="10" name="Text 7"/>
          <p:cNvSpPr/>
          <p:nvPr/>
        </p:nvSpPr>
        <p:spPr>
          <a:xfrm>
            <a:off x="5989320" y="3474720"/>
            <a:ext cx="2743200" cy="256032"/>
          </a:xfrm>
          <a:prstGeom prst="rect">
            <a:avLst/>
          </a:prstGeom>
          <a:noFill/>
          <a:ln/>
        </p:spPr>
        <p:txBody>
          <a:bodyPr wrap="square" lIns="0" tIns="0" rIns="0" bIns="0" rtlCol="0" anchor="ctr"/>
          <a:lstStyle/>
          <a:p>
            <a:pPr indent="0" marL="0">
              <a:buNone/>
            </a:pPr>
            <a:r>
              <a:rPr lang="en-US" sz="1200" b="1" dirty="0">
                <a:solidFill>
                  <a:srgbClr val="1F8A55"/>
                </a:solidFill>
                <a:latin typeface="Aptos" pitchFamily="34" charset="0"/>
                <a:ea typeface="Aptos" pitchFamily="34" charset="-122"/>
                <a:cs typeface="Aptos" pitchFamily="34" charset="-120"/>
              </a:rPr>
              <a:t>Quick structure to speak</a:t>
            </a:r>
            <a:endParaRPr lang="en-US" sz="1200" dirty="0"/>
          </a:p>
        </p:txBody>
      </p:sp>
      <p:sp>
        <p:nvSpPr>
          <p:cNvPr id="11" name="Text 8"/>
          <p:cNvSpPr/>
          <p:nvPr/>
        </p:nvSpPr>
        <p:spPr>
          <a:xfrm>
            <a:off x="5989320" y="3822192"/>
            <a:ext cx="2743200" cy="1143000"/>
          </a:xfrm>
          <a:prstGeom prst="rect">
            <a:avLst/>
          </a:prstGeom>
          <a:noFill/>
          <a:ln/>
        </p:spPr>
        <p:txBody>
          <a:bodyPr wrap="square" lIns="508" tIns="508" rIns="508" bIns="508" rtlCol="0" anchor="t">
            <a:normAutofit/>
          </a:bodyPr>
          <a:lstStyle/>
          <a:p>
            <a:pPr indent="0" marL="0">
              <a:buNone/>
            </a:pPr>
            <a:r>
              <a:rPr lang="en-US" sz="1500" dirty="0">
                <a:solidFill>
                  <a:srgbClr val="143126"/>
                </a:solidFill>
                <a:latin typeface="Aptos" pitchFamily="34" charset="0"/>
                <a:ea typeface="Aptos" pitchFamily="34" charset="-122"/>
                <a:cs typeface="Aptos" pitchFamily="34" charset="-120"/>
              </a:rPr>
              <a:t>1. State the purpose</a:t>
            </a:r>
            <a:endParaRPr lang="en-US" sz="1500" dirty="0"/>
          </a:p>
          <a:p>
            <a:pPr indent="0" marL="0">
              <a:buNone/>
            </a:pPr>
            <a:r>
              <a:rPr lang="en-US" sz="1500" dirty="0">
                <a:solidFill>
                  <a:srgbClr val="143126"/>
                </a:solidFill>
                <a:latin typeface="Aptos" pitchFamily="34" charset="0"/>
                <a:ea typeface="Aptos" pitchFamily="34" charset="-122"/>
                <a:cs typeface="Aptos" pitchFamily="34" charset="-120"/>
              </a:rPr>
              <a:t>2. Explain the method</a:t>
            </a:r>
            <a:endParaRPr lang="en-US" sz="1500" dirty="0"/>
          </a:p>
          <a:p>
            <a:pPr indent="0" marL="0">
              <a:buNone/>
            </a:pPr>
            <a:r>
              <a:rPr lang="en-US" sz="1500" dirty="0">
                <a:solidFill>
                  <a:srgbClr val="143126"/>
                </a:solidFill>
                <a:latin typeface="Aptos" pitchFamily="34" charset="0"/>
                <a:ea typeface="Aptos" pitchFamily="34" charset="-122"/>
                <a:cs typeface="Aptos" pitchFamily="34" charset="-120"/>
              </a:rPr>
              <a:t>3. Justify why it fits</a:t>
            </a:r>
            <a:endParaRPr lang="en-US" sz="1500" dirty="0"/>
          </a:p>
          <a:p>
            <a:pPr indent="0" marL="0">
              <a:buNone/>
            </a:pPr>
            <a:r>
              <a:rPr lang="en-US" sz="1500" dirty="0">
                <a:solidFill>
                  <a:srgbClr val="143126"/>
                </a:solidFill>
                <a:latin typeface="Aptos" pitchFamily="34" charset="0"/>
                <a:ea typeface="Aptos" pitchFamily="34" charset="-122"/>
                <a:cs typeface="Aptos" pitchFamily="34" charset="-120"/>
              </a:rPr>
              <a:t>4. Mention the limitation</a:t>
            </a:r>
            <a:endParaRPr lang="en-US" sz="1500" dirty="0"/>
          </a:p>
        </p:txBody>
      </p:sp>
      <p:sp>
        <p:nvSpPr>
          <p:cNvPr id="12" name="Text 9"/>
          <p:cNvSpPr/>
          <p:nvPr/>
        </p:nvSpPr>
        <p:spPr>
          <a:xfrm>
            <a:off x="5989320" y="5285232"/>
            <a:ext cx="2743200" cy="822960"/>
          </a:xfrm>
          <a:prstGeom prst="rect">
            <a:avLst/>
          </a:prstGeom>
          <a:noFill/>
          <a:ln/>
        </p:spPr>
        <p:txBody>
          <a:bodyPr wrap="square" lIns="508" tIns="508" rIns="508" bIns="508" rtlCol="0" anchor="ctr">
            <a:normAutofit/>
          </a:bodyPr>
          <a:lstStyle/>
          <a:p>
            <a:pPr indent="0" marL="0">
              <a:buNone/>
            </a:pPr>
            <a:r>
              <a:rPr lang="en-US" sz="1300" i="1" dirty="0">
                <a:solidFill>
                  <a:srgbClr val="5D6B63"/>
                </a:solidFill>
                <a:latin typeface="Aptos" pitchFamily="34" charset="0"/>
                <a:ea typeface="Aptos" pitchFamily="34" charset="-122"/>
                <a:cs typeface="Aptos" pitchFamily="34" charset="-120"/>
              </a:rPr>
              <a:t>Tip: Do not just read the slide. Use the slide as proof, then explain the reasoning in your own words.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Soil Quality Classification — Elaborated Explanation</dc:title>
  <dc:subject>Elaborated explanation deck for Soil Quality Classification using Decision Trees and Random Forest</dc:subject>
  <dc:creator>OpenAI</dc:creator>
  <cp:lastModifiedBy>OpenAI</cp:lastModifiedBy>
  <cp:revision>1</cp:revision>
  <dcterms:created xsi:type="dcterms:W3CDTF">2026-09-24T08:20:39Z</dcterms:created>
  <dcterms:modified xsi:type="dcterms:W3CDTF">2026-09-24T08:20:39Z</dcterms:modified>
</cp:coreProperties>
</file>